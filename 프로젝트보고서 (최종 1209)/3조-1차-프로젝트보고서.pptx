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71" r:id="rId25"/>
    <p:sldId id="27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82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91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34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99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59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74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1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969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06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1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9.png"/><Relationship Id="rId21" Type="http://schemas.openxmlformats.org/officeDocument/2006/relationships/image" Target="../media/image87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1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9.png"/><Relationship Id="rId21" Type="http://schemas.openxmlformats.org/officeDocument/2006/relationships/image" Target="../media/image108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4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23" Type="http://schemas.openxmlformats.org/officeDocument/2006/relationships/image" Target="../media/image110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10.png"/><Relationship Id="rId9" Type="http://schemas.openxmlformats.org/officeDocument/2006/relationships/image" Target="../media/image54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39" Type="http://schemas.openxmlformats.org/officeDocument/2006/relationships/image" Target="../media/image54.png"/><Relationship Id="rId21" Type="http://schemas.openxmlformats.org/officeDocument/2006/relationships/image" Target="../media/image126.png"/><Relationship Id="rId34" Type="http://schemas.openxmlformats.org/officeDocument/2006/relationships/image" Target="../media/image13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4.png"/><Relationship Id="rId41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29.png"/><Relationship Id="rId32" Type="http://schemas.openxmlformats.org/officeDocument/2006/relationships/image" Target="../media/image137.png"/><Relationship Id="rId37" Type="http://schemas.openxmlformats.org/officeDocument/2006/relationships/image" Target="../media/image142.png"/><Relationship Id="rId40" Type="http://schemas.openxmlformats.org/officeDocument/2006/relationships/image" Target="../media/image144.png"/><Relationship Id="rId5" Type="http://schemas.openxmlformats.org/officeDocument/2006/relationships/image" Target="../media/image111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36" Type="http://schemas.openxmlformats.org/officeDocument/2006/relationships/image" Target="../media/image141.png"/><Relationship Id="rId10" Type="http://schemas.openxmlformats.org/officeDocument/2006/relationships/image" Target="../media/image116.png"/><Relationship Id="rId19" Type="http://schemas.openxmlformats.org/officeDocument/2006/relationships/image" Target="../media/image124.png"/><Relationship Id="rId31" Type="http://schemas.openxmlformats.org/officeDocument/2006/relationships/image" Target="../media/image136.png"/><Relationship Id="rId4" Type="http://schemas.openxmlformats.org/officeDocument/2006/relationships/image" Target="../media/image10.png"/><Relationship Id="rId9" Type="http://schemas.openxmlformats.org/officeDocument/2006/relationships/image" Target="../media/image115.png"/><Relationship Id="rId14" Type="http://schemas.openxmlformats.org/officeDocument/2006/relationships/image" Target="../media/image7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Relationship Id="rId35" Type="http://schemas.openxmlformats.org/officeDocument/2006/relationships/image" Target="../media/image140.png"/><Relationship Id="rId8" Type="http://schemas.openxmlformats.org/officeDocument/2006/relationships/image" Target="../media/image114.png"/><Relationship Id="rId3" Type="http://schemas.openxmlformats.org/officeDocument/2006/relationships/image" Target="../media/image9.png"/><Relationship Id="rId12" Type="http://schemas.openxmlformats.org/officeDocument/2006/relationships/image" Target="../media/image118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33" Type="http://schemas.openxmlformats.org/officeDocument/2006/relationships/image" Target="../media/image138.png"/><Relationship Id="rId38" Type="http://schemas.openxmlformats.org/officeDocument/2006/relationships/image" Target="../media/image1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26" Type="http://schemas.openxmlformats.org/officeDocument/2006/relationships/image" Target="../media/image167.png"/><Relationship Id="rId3" Type="http://schemas.openxmlformats.org/officeDocument/2006/relationships/image" Target="../media/image9.png"/><Relationship Id="rId21" Type="http://schemas.openxmlformats.org/officeDocument/2006/relationships/image" Target="../media/image162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5" Type="http://schemas.openxmlformats.org/officeDocument/2006/relationships/image" Target="../media/image16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24" Type="http://schemas.openxmlformats.org/officeDocument/2006/relationships/image" Target="../media/image165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23" Type="http://schemas.openxmlformats.org/officeDocument/2006/relationships/image" Target="../media/image164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0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Relationship Id="rId22" Type="http://schemas.openxmlformats.org/officeDocument/2006/relationships/image" Target="../media/image1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9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0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26" Type="http://schemas.openxmlformats.org/officeDocument/2006/relationships/image" Target="../media/image205.png"/><Relationship Id="rId39" Type="http://schemas.openxmlformats.org/officeDocument/2006/relationships/image" Target="../media/image218.png"/><Relationship Id="rId21" Type="http://schemas.openxmlformats.org/officeDocument/2006/relationships/image" Target="../media/image200.png"/><Relationship Id="rId34" Type="http://schemas.openxmlformats.org/officeDocument/2006/relationships/image" Target="../media/image213.png"/><Relationship Id="rId42" Type="http://schemas.openxmlformats.org/officeDocument/2006/relationships/image" Target="../media/image221.png"/><Relationship Id="rId47" Type="http://schemas.openxmlformats.org/officeDocument/2006/relationships/image" Target="../media/image226.png"/><Relationship Id="rId50" Type="http://schemas.openxmlformats.org/officeDocument/2006/relationships/image" Target="../media/image229.png"/><Relationship Id="rId55" Type="http://schemas.openxmlformats.org/officeDocument/2006/relationships/image" Target="../media/image234.png"/><Relationship Id="rId63" Type="http://schemas.openxmlformats.org/officeDocument/2006/relationships/image" Target="../media/image242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5.png"/><Relationship Id="rId29" Type="http://schemas.openxmlformats.org/officeDocument/2006/relationships/image" Target="../media/image208.png"/><Relationship Id="rId11" Type="http://schemas.openxmlformats.org/officeDocument/2006/relationships/image" Target="../media/image190.png"/><Relationship Id="rId24" Type="http://schemas.openxmlformats.org/officeDocument/2006/relationships/image" Target="../media/image203.png"/><Relationship Id="rId32" Type="http://schemas.openxmlformats.org/officeDocument/2006/relationships/image" Target="../media/image211.png"/><Relationship Id="rId37" Type="http://schemas.openxmlformats.org/officeDocument/2006/relationships/image" Target="../media/image216.png"/><Relationship Id="rId40" Type="http://schemas.openxmlformats.org/officeDocument/2006/relationships/image" Target="../media/image219.png"/><Relationship Id="rId45" Type="http://schemas.openxmlformats.org/officeDocument/2006/relationships/image" Target="../media/image224.png"/><Relationship Id="rId53" Type="http://schemas.openxmlformats.org/officeDocument/2006/relationships/image" Target="../media/image232.png"/><Relationship Id="rId58" Type="http://schemas.openxmlformats.org/officeDocument/2006/relationships/image" Target="../media/image237.png"/><Relationship Id="rId5" Type="http://schemas.openxmlformats.org/officeDocument/2006/relationships/image" Target="../media/image184.png"/><Relationship Id="rId61" Type="http://schemas.openxmlformats.org/officeDocument/2006/relationships/image" Target="../media/image240.png"/><Relationship Id="rId19" Type="http://schemas.openxmlformats.org/officeDocument/2006/relationships/image" Target="../media/image198.png"/><Relationship Id="rId14" Type="http://schemas.openxmlformats.org/officeDocument/2006/relationships/image" Target="../media/image193.png"/><Relationship Id="rId22" Type="http://schemas.openxmlformats.org/officeDocument/2006/relationships/image" Target="../media/image201.png"/><Relationship Id="rId27" Type="http://schemas.openxmlformats.org/officeDocument/2006/relationships/image" Target="../media/image206.png"/><Relationship Id="rId30" Type="http://schemas.openxmlformats.org/officeDocument/2006/relationships/image" Target="../media/image209.png"/><Relationship Id="rId35" Type="http://schemas.openxmlformats.org/officeDocument/2006/relationships/image" Target="../media/image214.png"/><Relationship Id="rId43" Type="http://schemas.openxmlformats.org/officeDocument/2006/relationships/image" Target="../media/image222.png"/><Relationship Id="rId48" Type="http://schemas.openxmlformats.org/officeDocument/2006/relationships/image" Target="../media/image227.png"/><Relationship Id="rId56" Type="http://schemas.openxmlformats.org/officeDocument/2006/relationships/image" Target="../media/image235.png"/><Relationship Id="rId8" Type="http://schemas.openxmlformats.org/officeDocument/2006/relationships/image" Target="../media/image187.png"/><Relationship Id="rId51" Type="http://schemas.openxmlformats.org/officeDocument/2006/relationships/image" Target="../media/image230.png"/><Relationship Id="rId3" Type="http://schemas.openxmlformats.org/officeDocument/2006/relationships/image" Target="../media/image9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5" Type="http://schemas.openxmlformats.org/officeDocument/2006/relationships/image" Target="../media/image204.png"/><Relationship Id="rId33" Type="http://schemas.openxmlformats.org/officeDocument/2006/relationships/image" Target="../media/image212.png"/><Relationship Id="rId38" Type="http://schemas.openxmlformats.org/officeDocument/2006/relationships/image" Target="../media/image217.png"/><Relationship Id="rId46" Type="http://schemas.openxmlformats.org/officeDocument/2006/relationships/image" Target="../media/image225.png"/><Relationship Id="rId59" Type="http://schemas.openxmlformats.org/officeDocument/2006/relationships/image" Target="../media/image238.png"/><Relationship Id="rId20" Type="http://schemas.openxmlformats.org/officeDocument/2006/relationships/image" Target="../media/image199.png"/><Relationship Id="rId41" Type="http://schemas.openxmlformats.org/officeDocument/2006/relationships/image" Target="../media/image220.png"/><Relationship Id="rId54" Type="http://schemas.openxmlformats.org/officeDocument/2006/relationships/image" Target="../media/image233.png"/><Relationship Id="rId62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15" Type="http://schemas.openxmlformats.org/officeDocument/2006/relationships/image" Target="../media/image194.png"/><Relationship Id="rId23" Type="http://schemas.openxmlformats.org/officeDocument/2006/relationships/image" Target="../media/image202.png"/><Relationship Id="rId28" Type="http://schemas.openxmlformats.org/officeDocument/2006/relationships/image" Target="../media/image207.png"/><Relationship Id="rId36" Type="http://schemas.openxmlformats.org/officeDocument/2006/relationships/image" Target="../media/image215.png"/><Relationship Id="rId49" Type="http://schemas.openxmlformats.org/officeDocument/2006/relationships/image" Target="../media/image228.png"/><Relationship Id="rId57" Type="http://schemas.openxmlformats.org/officeDocument/2006/relationships/image" Target="../media/image236.png"/><Relationship Id="rId10" Type="http://schemas.openxmlformats.org/officeDocument/2006/relationships/image" Target="../media/image189.png"/><Relationship Id="rId31" Type="http://schemas.openxmlformats.org/officeDocument/2006/relationships/image" Target="../media/image210.png"/><Relationship Id="rId44" Type="http://schemas.openxmlformats.org/officeDocument/2006/relationships/image" Target="../media/image223.png"/><Relationship Id="rId52" Type="http://schemas.openxmlformats.org/officeDocument/2006/relationships/image" Target="../media/image231.png"/><Relationship Id="rId60" Type="http://schemas.openxmlformats.org/officeDocument/2006/relationships/image" Target="../media/image239.png"/><Relationship Id="rId4" Type="http://schemas.openxmlformats.org/officeDocument/2006/relationships/image" Target="../media/image10.png"/><Relationship Id="rId9" Type="http://schemas.openxmlformats.org/officeDocument/2006/relationships/image" Target="../media/image18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8.png"/><Relationship Id="rId18" Type="http://schemas.openxmlformats.org/officeDocument/2006/relationships/image" Target="../media/image253.png"/><Relationship Id="rId26" Type="http://schemas.openxmlformats.org/officeDocument/2006/relationships/image" Target="../media/image261.png"/><Relationship Id="rId39" Type="http://schemas.openxmlformats.org/officeDocument/2006/relationships/image" Target="../media/image274.png"/><Relationship Id="rId21" Type="http://schemas.openxmlformats.org/officeDocument/2006/relationships/image" Target="../media/image256.png"/><Relationship Id="rId34" Type="http://schemas.openxmlformats.org/officeDocument/2006/relationships/image" Target="../media/image269.png"/><Relationship Id="rId7" Type="http://schemas.openxmlformats.org/officeDocument/2006/relationships/image" Target="../media/image245.png"/><Relationship Id="rId12" Type="http://schemas.openxmlformats.org/officeDocument/2006/relationships/image" Target="../media/image247.png"/><Relationship Id="rId17" Type="http://schemas.openxmlformats.org/officeDocument/2006/relationships/image" Target="../media/image252.png"/><Relationship Id="rId25" Type="http://schemas.openxmlformats.org/officeDocument/2006/relationships/image" Target="../media/image260.png"/><Relationship Id="rId33" Type="http://schemas.openxmlformats.org/officeDocument/2006/relationships/image" Target="../media/image268.png"/><Relationship Id="rId38" Type="http://schemas.openxmlformats.org/officeDocument/2006/relationships/image" Target="../media/image27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51.png"/><Relationship Id="rId20" Type="http://schemas.openxmlformats.org/officeDocument/2006/relationships/image" Target="../media/image255.png"/><Relationship Id="rId29" Type="http://schemas.openxmlformats.org/officeDocument/2006/relationships/image" Target="../media/image2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4.png"/><Relationship Id="rId11" Type="http://schemas.openxmlformats.org/officeDocument/2006/relationships/image" Target="../media/image97.png"/><Relationship Id="rId24" Type="http://schemas.openxmlformats.org/officeDocument/2006/relationships/image" Target="../media/image259.png"/><Relationship Id="rId32" Type="http://schemas.openxmlformats.org/officeDocument/2006/relationships/image" Target="../media/image267.png"/><Relationship Id="rId37" Type="http://schemas.openxmlformats.org/officeDocument/2006/relationships/image" Target="../media/image272.png"/><Relationship Id="rId5" Type="http://schemas.openxmlformats.org/officeDocument/2006/relationships/image" Target="../media/image243.png"/><Relationship Id="rId15" Type="http://schemas.openxmlformats.org/officeDocument/2006/relationships/image" Target="../media/image250.png"/><Relationship Id="rId23" Type="http://schemas.openxmlformats.org/officeDocument/2006/relationships/image" Target="../media/image258.png"/><Relationship Id="rId28" Type="http://schemas.openxmlformats.org/officeDocument/2006/relationships/image" Target="../media/image263.png"/><Relationship Id="rId36" Type="http://schemas.openxmlformats.org/officeDocument/2006/relationships/image" Target="../media/image271.png"/><Relationship Id="rId10" Type="http://schemas.openxmlformats.org/officeDocument/2006/relationships/image" Target="../media/image246.png"/><Relationship Id="rId19" Type="http://schemas.openxmlformats.org/officeDocument/2006/relationships/image" Target="../media/image254.png"/><Relationship Id="rId31" Type="http://schemas.openxmlformats.org/officeDocument/2006/relationships/image" Target="../media/image266.png"/><Relationship Id="rId4" Type="http://schemas.openxmlformats.org/officeDocument/2006/relationships/image" Target="../media/image10.png"/><Relationship Id="rId9" Type="http://schemas.openxmlformats.org/officeDocument/2006/relationships/image" Target="../media/image235.png"/><Relationship Id="rId14" Type="http://schemas.openxmlformats.org/officeDocument/2006/relationships/image" Target="../media/image249.png"/><Relationship Id="rId22" Type="http://schemas.openxmlformats.org/officeDocument/2006/relationships/image" Target="../media/image257.png"/><Relationship Id="rId27" Type="http://schemas.openxmlformats.org/officeDocument/2006/relationships/image" Target="../media/image262.png"/><Relationship Id="rId30" Type="http://schemas.openxmlformats.org/officeDocument/2006/relationships/image" Target="../media/image265.png"/><Relationship Id="rId35" Type="http://schemas.openxmlformats.org/officeDocument/2006/relationships/image" Target="../media/image270.png"/><Relationship Id="rId8" Type="http://schemas.openxmlformats.org/officeDocument/2006/relationships/image" Target="../media/image187.png"/><Relationship Id="rId3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png"/><Relationship Id="rId18" Type="http://schemas.openxmlformats.org/officeDocument/2006/relationships/image" Target="../media/image289.png"/><Relationship Id="rId26" Type="http://schemas.openxmlformats.org/officeDocument/2006/relationships/image" Target="../media/image297.png"/><Relationship Id="rId39" Type="http://schemas.openxmlformats.org/officeDocument/2006/relationships/image" Target="../media/image310.png"/><Relationship Id="rId21" Type="http://schemas.openxmlformats.org/officeDocument/2006/relationships/image" Target="../media/image292.png"/><Relationship Id="rId34" Type="http://schemas.openxmlformats.org/officeDocument/2006/relationships/image" Target="../media/image305.png"/><Relationship Id="rId42" Type="http://schemas.openxmlformats.org/officeDocument/2006/relationships/image" Target="../media/image313.png"/><Relationship Id="rId47" Type="http://schemas.openxmlformats.org/officeDocument/2006/relationships/image" Target="../media/image318.png"/><Relationship Id="rId50" Type="http://schemas.openxmlformats.org/officeDocument/2006/relationships/image" Target="../media/image321.png"/><Relationship Id="rId7" Type="http://schemas.openxmlformats.org/officeDocument/2006/relationships/image" Target="../media/image27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87.png"/><Relationship Id="rId29" Type="http://schemas.openxmlformats.org/officeDocument/2006/relationships/image" Target="../media/image300.png"/><Relationship Id="rId11" Type="http://schemas.openxmlformats.org/officeDocument/2006/relationships/image" Target="../media/image282.png"/><Relationship Id="rId24" Type="http://schemas.openxmlformats.org/officeDocument/2006/relationships/image" Target="../media/image295.png"/><Relationship Id="rId32" Type="http://schemas.openxmlformats.org/officeDocument/2006/relationships/image" Target="../media/image303.png"/><Relationship Id="rId37" Type="http://schemas.openxmlformats.org/officeDocument/2006/relationships/image" Target="../media/image308.png"/><Relationship Id="rId40" Type="http://schemas.openxmlformats.org/officeDocument/2006/relationships/image" Target="../media/image311.png"/><Relationship Id="rId45" Type="http://schemas.openxmlformats.org/officeDocument/2006/relationships/image" Target="../media/image316.png"/><Relationship Id="rId53" Type="http://schemas.openxmlformats.org/officeDocument/2006/relationships/image" Target="../media/image324.png"/><Relationship Id="rId5" Type="http://schemas.openxmlformats.org/officeDocument/2006/relationships/image" Target="../media/image276.png"/><Relationship Id="rId10" Type="http://schemas.openxmlformats.org/officeDocument/2006/relationships/image" Target="../media/image281.png"/><Relationship Id="rId19" Type="http://schemas.openxmlformats.org/officeDocument/2006/relationships/image" Target="../media/image290.png"/><Relationship Id="rId31" Type="http://schemas.openxmlformats.org/officeDocument/2006/relationships/image" Target="../media/image302.png"/><Relationship Id="rId44" Type="http://schemas.openxmlformats.org/officeDocument/2006/relationships/image" Target="../media/image315.png"/><Relationship Id="rId52" Type="http://schemas.openxmlformats.org/officeDocument/2006/relationships/image" Target="../media/image323.png"/><Relationship Id="rId4" Type="http://schemas.openxmlformats.org/officeDocument/2006/relationships/image" Target="../media/image275.png"/><Relationship Id="rId9" Type="http://schemas.openxmlformats.org/officeDocument/2006/relationships/image" Target="../media/image280.png"/><Relationship Id="rId14" Type="http://schemas.openxmlformats.org/officeDocument/2006/relationships/image" Target="../media/image285.png"/><Relationship Id="rId22" Type="http://schemas.openxmlformats.org/officeDocument/2006/relationships/image" Target="../media/image293.png"/><Relationship Id="rId27" Type="http://schemas.openxmlformats.org/officeDocument/2006/relationships/image" Target="../media/image298.png"/><Relationship Id="rId30" Type="http://schemas.openxmlformats.org/officeDocument/2006/relationships/image" Target="../media/image301.png"/><Relationship Id="rId35" Type="http://schemas.openxmlformats.org/officeDocument/2006/relationships/image" Target="../media/image306.png"/><Relationship Id="rId43" Type="http://schemas.openxmlformats.org/officeDocument/2006/relationships/image" Target="../media/image314.png"/><Relationship Id="rId48" Type="http://schemas.openxmlformats.org/officeDocument/2006/relationships/image" Target="../media/image319.png"/><Relationship Id="rId8" Type="http://schemas.openxmlformats.org/officeDocument/2006/relationships/image" Target="../media/image279.png"/><Relationship Id="rId51" Type="http://schemas.openxmlformats.org/officeDocument/2006/relationships/image" Target="../media/image322.png"/><Relationship Id="rId3" Type="http://schemas.openxmlformats.org/officeDocument/2006/relationships/image" Target="../media/image9.png"/><Relationship Id="rId12" Type="http://schemas.openxmlformats.org/officeDocument/2006/relationships/image" Target="../media/image283.png"/><Relationship Id="rId17" Type="http://schemas.openxmlformats.org/officeDocument/2006/relationships/image" Target="../media/image288.png"/><Relationship Id="rId25" Type="http://schemas.openxmlformats.org/officeDocument/2006/relationships/image" Target="../media/image296.png"/><Relationship Id="rId33" Type="http://schemas.openxmlformats.org/officeDocument/2006/relationships/image" Target="../media/image304.png"/><Relationship Id="rId38" Type="http://schemas.openxmlformats.org/officeDocument/2006/relationships/image" Target="../media/image309.png"/><Relationship Id="rId46" Type="http://schemas.openxmlformats.org/officeDocument/2006/relationships/image" Target="../media/image317.png"/><Relationship Id="rId20" Type="http://schemas.openxmlformats.org/officeDocument/2006/relationships/image" Target="../media/image291.png"/><Relationship Id="rId41" Type="http://schemas.openxmlformats.org/officeDocument/2006/relationships/image" Target="../media/image3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.png"/><Relationship Id="rId15" Type="http://schemas.openxmlformats.org/officeDocument/2006/relationships/image" Target="../media/image286.png"/><Relationship Id="rId23" Type="http://schemas.openxmlformats.org/officeDocument/2006/relationships/image" Target="../media/image294.png"/><Relationship Id="rId28" Type="http://schemas.openxmlformats.org/officeDocument/2006/relationships/image" Target="../media/image299.png"/><Relationship Id="rId36" Type="http://schemas.openxmlformats.org/officeDocument/2006/relationships/image" Target="../media/image307.png"/><Relationship Id="rId49" Type="http://schemas.openxmlformats.org/officeDocument/2006/relationships/image" Target="../media/image3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2.png"/><Relationship Id="rId18" Type="http://schemas.openxmlformats.org/officeDocument/2006/relationships/image" Target="../media/image337.png"/><Relationship Id="rId3" Type="http://schemas.openxmlformats.org/officeDocument/2006/relationships/image" Target="../media/image9.png"/><Relationship Id="rId21" Type="http://schemas.openxmlformats.org/officeDocument/2006/relationships/image" Target="../media/image339.png"/><Relationship Id="rId7" Type="http://schemas.openxmlformats.org/officeDocument/2006/relationships/image" Target="../media/image327.png"/><Relationship Id="rId12" Type="http://schemas.openxmlformats.org/officeDocument/2006/relationships/image" Target="../media/image331.png"/><Relationship Id="rId17" Type="http://schemas.openxmlformats.org/officeDocument/2006/relationships/image" Target="../media/image33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3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6.png"/><Relationship Id="rId11" Type="http://schemas.openxmlformats.org/officeDocument/2006/relationships/image" Target="../media/image89.png"/><Relationship Id="rId5" Type="http://schemas.openxmlformats.org/officeDocument/2006/relationships/image" Target="../media/image325.png"/><Relationship Id="rId15" Type="http://schemas.openxmlformats.org/officeDocument/2006/relationships/image" Target="../media/image334.png"/><Relationship Id="rId10" Type="http://schemas.openxmlformats.org/officeDocument/2006/relationships/image" Target="../media/image330.png"/><Relationship Id="rId19" Type="http://schemas.openxmlformats.org/officeDocument/2006/relationships/image" Target="../media/image338.png"/><Relationship Id="rId4" Type="http://schemas.openxmlformats.org/officeDocument/2006/relationships/image" Target="../media/image10.png"/><Relationship Id="rId9" Type="http://schemas.openxmlformats.org/officeDocument/2006/relationships/image" Target="../media/image329.png"/><Relationship Id="rId14" Type="http://schemas.openxmlformats.org/officeDocument/2006/relationships/image" Target="../media/image333.png"/><Relationship Id="rId22" Type="http://schemas.openxmlformats.org/officeDocument/2006/relationships/image" Target="../media/image3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3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13" Type="http://schemas.openxmlformats.org/officeDocument/2006/relationships/image" Target="../media/image352.png"/><Relationship Id="rId18" Type="http://schemas.openxmlformats.org/officeDocument/2006/relationships/image" Target="../media/image357.png"/><Relationship Id="rId3" Type="http://schemas.openxmlformats.org/officeDocument/2006/relationships/image" Target="../media/image1.png"/><Relationship Id="rId21" Type="http://schemas.openxmlformats.org/officeDocument/2006/relationships/image" Target="../media/image343.png"/><Relationship Id="rId7" Type="http://schemas.openxmlformats.org/officeDocument/2006/relationships/image" Target="../media/image346.png"/><Relationship Id="rId12" Type="http://schemas.openxmlformats.org/officeDocument/2006/relationships/image" Target="../media/image351.png"/><Relationship Id="rId17" Type="http://schemas.openxmlformats.org/officeDocument/2006/relationships/image" Target="../media/image35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55.png"/><Relationship Id="rId20" Type="http://schemas.openxmlformats.org/officeDocument/2006/relationships/image" Target="../media/image3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5.png"/><Relationship Id="rId11" Type="http://schemas.openxmlformats.org/officeDocument/2006/relationships/image" Target="../media/image350.png"/><Relationship Id="rId5" Type="http://schemas.openxmlformats.org/officeDocument/2006/relationships/image" Target="../media/image342.png"/><Relationship Id="rId15" Type="http://schemas.openxmlformats.org/officeDocument/2006/relationships/image" Target="../media/image354.png"/><Relationship Id="rId10" Type="http://schemas.openxmlformats.org/officeDocument/2006/relationships/image" Target="../media/image349.png"/><Relationship Id="rId19" Type="http://schemas.openxmlformats.org/officeDocument/2006/relationships/image" Target="../media/image358.png"/><Relationship Id="rId4" Type="http://schemas.openxmlformats.org/officeDocument/2006/relationships/image" Target="../media/image341.png"/><Relationship Id="rId9" Type="http://schemas.openxmlformats.org/officeDocument/2006/relationships/image" Target="../media/image348.png"/><Relationship Id="rId14" Type="http://schemas.openxmlformats.org/officeDocument/2006/relationships/image" Target="../media/image3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13" Type="http://schemas.openxmlformats.org/officeDocument/2006/relationships/image" Target="../media/image367.png"/><Relationship Id="rId18" Type="http://schemas.openxmlformats.org/officeDocument/2006/relationships/image" Target="../media/image372.png"/><Relationship Id="rId26" Type="http://schemas.openxmlformats.org/officeDocument/2006/relationships/image" Target="../media/image379.png"/><Relationship Id="rId3" Type="http://schemas.openxmlformats.org/officeDocument/2006/relationships/image" Target="../media/image1.png"/><Relationship Id="rId21" Type="http://schemas.openxmlformats.org/officeDocument/2006/relationships/image" Target="../media/image375.png"/><Relationship Id="rId7" Type="http://schemas.openxmlformats.org/officeDocument/2006/relationships/image" Target="../media/image361.png"/><Relationship Id="rId12" Type="http://schemas.openxmlformats.org/officeDocument/2006/relationships/image" Target="../media/image366.png"/><Relationship Id="rId17" Type="http://schemas.openxmlformats.org/officeDocument/2006/relationships/image" Target="../media/image371.png"/><Relationship Id="rId25" Type="http://schemas.openxmlformats.org/officeDocument/2006/relationships/image" Target="../media/image37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70.png"/><Relationship Id="rId20" Type="http://schemas.openxmlformats.org/officeDocument/2006/relationships/image" Target="../media/image3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11" Type="http://schemas.openxmlformats.org/officeDocument/2006/relationships/image" Target="../media/image365.png"/><Relationship Id="rId24" Type="http://schemas.openxmlformats.org/officeDocument/2006/relationships/image" Target="../media/image377.png"/><Relationship Id="rId5" Type="http://schemas.openxmlformats.org/officeDocument/2006/relationships/image" Target="../media/image342.png"/><Relationship Id="rId15" Type="http://schemas.openxmlformats.org/officeDocument/2006/relationships/image" Target="../media/image369.png"/><Relationship Id="rId23" Type="http://schemas.openxmlformats.org/officeDocument/2006/relationships/image" Target="../media/image376.png"/><Relationship Id="rId10" Type="http://schemas.openxmlformats.org/officeDocument/2006/relationships/image" Target="../media/image364.png"/><Relationship Id="rId19" Type="http://schemas.openxmlformats.org/officeDocument/2006/relationships/image" Target="../media/image373.png"/><Relationship Id="rId4" Type="http://schemas.openxmlformats.org/officeDocument/2006/relationships/image" Target="../media/image341.png"/><Relationship Id="rId9" Type="http://schemas.openxmlformats.org/officeDocument/2006/relationships/image" Target="../media/image363.png"/><Relationship Id="rId14" Type="http://schemas.openxmlformats.org/officeDocument/2006/relationships/image" Target="../media/image368.png"/><Relationship Id="rId22" Type="http://schemas.openxmlformats.org/officeDocument/2006/relationships/image" Target="../media/image84.png"/><Relationship Id="rId27" Type="http://schemas.openxmlformats.org/officeDocument/2006/relationships/image" Target="../media/image3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13" Type="http://schemas.openxmlformats.org/officeDocument/2006/relationships/image" Target="../media/image387.png"/><Relationship Id="rId18" Type="http://schemas.openxmlformats.org/officeDocument/2006/relationships/image" Target="../media/image392.png"/><Relationship Id="rId3" Type="http://schemas.openxmlformats.org/officeDocument/2006/relationships/image" Target="../media/image1.png"/><Relationship Id="rId21" Type="http://schemas.openxmlformats.org/officeDocument/2006/relationships/image" Target="../media/image395.png"/><Relationship Id="rId7" Type="http://schemas.openxmlformats.org/officeDocument/2006/relationships/image" Target="../media/image381.png"/><Relationship Id="rId12" Type="http://schemas.openxmlformats.org/officeDocument/2006/relationships/image" Target="../media/image386.png"/><Relationship Id="rId17" Type="http://schemas.openxmlformats.org/officeDocument/2006/relationships/image" Target="../media/image39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90.png"/><Relationship Id="rId20" Type="http://schemas.openxmlformats.org/officeDocument/2006/relationships/image" Target="../media/image3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0.png"/><Relationship Id="rId11" Type="http://schemas.openxmlformats.org/officeDocument/2006/relationships/image" Target="../media/image385.png"/><Relationship Id="rId5" Type="http://schemas.openxmlformats.org/officeDocument/2006/relationships/image" Target="../media/image342.png"/><Relationship Id="rId15" Type="http://schemas.openxmlformats.org/officeDocument/2006/relationships/image" Target="../media/image389.png"/><Relationship Id="rId10" Type="http://schemas.openxmlformats.org/officeDocument/2006/relationships/image" Target="../media/image384.png"/><Relationship Id="rId19" Type="http://schemas.openxmlformats.org/officeDocument/2006/relationships/image" Target="../media/image393.png"/><Relationship Id="rId4" Type="http://schemas.openxmlformats.org/officeDocument/2006/relationships/image" Target="../media/image341.png"/><Relationship Id="rId9" Type="http://schemas.openxmlformats.org/officeDocument/2006/relationships/image" Target="../media/image383.png"/><Relationship Id="rId14" Type="http://schemas.openxmlformats.org/officeDocument/2006/relationships/image" Target="../media/image388.png"/><Relationship Id="rId22" Type="http://schemas.openxmlformats.org/officeDocument/2006/relationships/image" Target="../media/image343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3.png"/><Relationship Id="rId18" Type="http://schemas.openxmlformats.org/officeDocument/2006/relationships/image" Target="../media/image408.png"/><Relationship Id="rId26" Type="http://schemas.openxmlformats.org/officeDocument/2006/relationships/image" Target="../media/image416.png"/><Relationship Id="rId3" Type="http://schemas.openxmlformats.org/officeDocument/2006/relationships/image" Target="../media/image1.png"/><Relationship Id="rId21" Type="http://schemas.openxmlformats.org/officeDocument/2006/relationships/image" Target="../media/image411.png"/><Relationship Id="rId34" Type="http://schemas.openxmlformats.org/officeDocument/2006/relationships/image" Target="../media/image424.png"/><Relationship Id="rId7" Type="http://schemas.openxmlformats.org/officeDocument/2006/relationships/image" Target="../media/image397.png"/><Relationship Id="rId12" Type="http://schemas.openxmlformats.org/officeDocument/2006/relationships/image" Target="../media/image402.png"/><Relationship Id="rId17" Type="http://schemas.openxmlformats.org/officeDocument/2006/relationships/image" Target="../media/image407.png"/><Relationship Id="rId25" Type="http://schemas.openxmlformats.org/officeDocument/2006/relationships/image" Target="../media/image415.png"/><Relationship Id="rId33" Type="http://schemas.openxmlformats.org/officeDocument/2006/relationships/image" Target="../media/image423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06.png"/><Relationship Id="rId20" Type="http://schemas.openxmlformats.org/officeDocument/2006/relationships/image" Target="../media/image410.png"/><Relationship Id="rId29" Type="http://schemas.openxmlformats.org/officeDocument/2006/relationships/image" Target="../media/image4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6.png"/><Relationship Id="rId11" Type="http://schemas.openxmlformats.org/officeDocument/2006/relationships/image" Target="../media/image401.png"/><Relationship Id="rId24" Type="http://schemas.openxmlformats.org/officeDocument/2006/relationships/image" Target="../media/image414.png"/><Relationship Id="rId32" Type="http://schemas.openxmlformats.org/officeDocument/2006/relationships/image" Target="../media/image422.png"/><Relationship Id="rId5" Type="http://schemas.openxmlformats.org/officeDocument/2006/relationships/image" Target="../media/image342.png"/><Relationship Id="rId15" Type="http://schemas.openxmlformats.org/officeDocument/2006/relationships/image" Target="../media/image405.png"/><Relationship Id="rId23" Type="http://schemas.openxmlformats.org/officeDocument/2006/relationships/image" Target="../media/image413.png"/><Relationship Id="rId28" Type="http://schemas.openxmlformats.org/officeDocument/2006/relationships/image" Target="../media/image418.png"/><Relationship Id="rId36" Type="http://schemas.openxmlformats.org/officeDocument/2006/relationships/image" Target="../media/image343.png"/><Relationship Id="rId10" Type="http://schemas.openxmlformats.org/officeDocument/2006/relationships/image" Target="../media/image400.png"/><Relationship Id="rId19" Type="http://schemas.openxmlformats.org/officeDocument/2006/relationships/image" Target="../media/image409.png"/><Relationship Id="rId31" Type="http://schemas.openxmlformats.org/officeDocument/2006/relationships/image" Target="../media/image421.png"/><Relationship Id="rId4" Type="http://schemas.openxmlformats.org/officeDocument/2006/relationships/image" Target="../media/image341.png"/><Relationship Id="rId9" Type="http://schemas.openxmlformats.org/officeDocument/2006/relationships/image" Target="../media/image399.png"/><Relationship Id="rId14" Type="http://schemas.openxmlformats.org/officeDocument/2006/relationships/image" Target="../media/image404.png"/><Relationship Id="rId22" Type="http://schemas.openxmlformats.org/officeDocument/2006/relationships/image" Target="../media/image412.png"/><Relationship Id="rId27" Type="http://schemas.openxmlformats.org/officeDocument/2006/relationships/image" Target="../media/image417.png"/><Relationship Id="rId30" Type="http://schemas.openxmlformats.org/officeDocument/2006/relationships/image" Target="../media/image420.png"/><Relationship Id="rId35" Type="http://schemas.openxmlformats.org/officeDocument/2006/relationships/image" Target="../media/image425.png"/><Relationship Id="rId8" Type="http://schemas.openxmlformats.org/officeDocument/2006/relationships/image" Target="../media/image3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0050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4090987"/>
            <a:ext cx="9144000" cy="9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5600700"/>
            <a:ext cx="5715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0825" y="54483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0825" y="57531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0825" y="6057900"/>
            <a:ext cx="152400" cy="1524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952500" y="476250"/>
            <a:ext cx="2477453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0"/>
              </a:lnSpc>
              <a:buNone/>
            </a:pPr>
            <a:r>
              <a:rPr lang="en-US" sz="9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9000" dirty="0"/>
          </a:p>
        </p:txBody>
      </p:sp>
      <p:sp>
        <p:nvSpPr>
          <p:cNvPr id="11" name="Text 1"/>
          <p:cNvSpPr/>
          <p:nvPr/>
        </p:nvSpPr>
        <p:spPr>
          <a:xfrm>
            <a:off x="9174956" y="4667250"/>
            <a:ext cx="2477453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0"/>
              </a:lnSpc>
              <a:buNone/>
            </a:pPr>
            <a:r>
              <a:rPr lang="en-US" sz="9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9000" dirty="0"/>
          </a:p>
        </p:txBody>
      </p:sp>
      <p:sp>
        <p:nvSpPr>
          <p:cNvPr id="12" name="Text 2"/>
          <p:cNvSpPr/>
          <p:nvPr/>
        </p:nvSpPr>
        <p:spPr>
          <a:xfrm>
            <a:off x="1066800" y="781050"/>
            <a:ext cx="149733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22C55E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13" name="Text 3"/>
          <p:cNvSpPr/>
          <p:nvPr/>
        </p:nvSpPr>
        <p:spPr>
          <a:xfrm>
            <a:off x="914400" y="1143000"/>
            <a:ext cx="103632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감정 분석 기반
AI 상담 챗봇 시스템</a:t>
            </a:r>
            <a:endParaRPr lang="en-US" sz="4500" dirty="0"/>
          </a:p>
        </p:txBody>
      </p:sp>
      <p:sp>
        <p:nvSpPr>
          <p:cNvPr id="14" name="Text 4"/>
          <p:cNvSpPr/>
          <p:nvPr/>
        </p:nvSpPr>
        <p:spPr>
          <a:xfrm>
            <a:off x="914400" y="2514600"/>
            <a:ext cx="12435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Emotion Analysis-based AI Counseling Chatbot System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914400" y="5448300"/>
            <a:ext cx="2495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팀명 및 팀원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914400" y="5791200"/>
            <a:ext cx="2495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C조
20252364 강한서 20251236 박주언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0639425" y="541020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10639425" y="5715000"/>
            <a:ext cx="6743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연동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10639425" y="60198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38300"/>
            <a:ext cx="54102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956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200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886200"/>
            <a:ext cx="2571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305300"/>
            <a:ext cx="5410200" cy="1600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572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143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4864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2192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638300"/>
            <a:ext cx="2628900" cy="1638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0450" y="18288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5238" y="19812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2100" y="1638300"/>
            <a:ext cx="2628900" cy="1638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1750" y="18288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3675" y="19812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429000"/>
            <a:ext cx="2628900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10450" y="3619500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72375" y="3771900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2100" y="3429000"/>
            <a:ext cx="2628900" cy="1638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91750" y="3619500"/>
            <a:ext cx="6096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82250" y="3771900"/>
            <a:ext cx="2286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개요 및 팀 구성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6675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609600" y="18669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기반 AI 상담 챗봇 시스템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609600" y="224790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분석하여 감정 상태를 파악하고, 해당 감정에 적합한 상담을 제공하는 AI 챗봇 시스템 개발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838200" y="285750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사회적 요구에 부응한 심리 상담 접근법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838200" y="3162300"/>
            <a:ext cx="320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최신 AI 기술을 활용한 개인화 상담 서비스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752475" y="3848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동기</a:t>
            </a:r>
            <a:endParaRPr lang="en-US" sz="1800" dirty="0"/>
          </a:p>
        </p:txBody>
      </p:sp>
      <p:sp>
        <p:nvSpPr>
          <p:cNvPr id="33" name="Text 7"/>
          <p:cNvSpPr/>
          <p:nvPr/>
        </p:nvSpPr>
        <p:spPr>
          <a:xfrm>
            <a:off x="838200" y="45339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심리적 문제를 겪고 있는 사람들이 전문가에게 쉽게 접근하지 못하는 문제 해결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838200" y="5105400"/>
            <a:ext cx="4046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인공지능을 활용한 접근성 향상과 상담의 편의성 제공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838200" y="5448300"/>
            <a:ext cx="4137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분석을 통한 사용자 상태 파악과 적절한 상담 제공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680085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팀 구성</a:t>
            </a:r>
            <a:endParaRPr lang="en-US" sz="1800" dirty="0"/>
          </a:p>
        </p:txBody>
      </p:sp>
      <p:sp>
        <p:nvSpPr>
          <p:cNvPr id="37" name="Text 11"/>
          <p:cNvSpPr/>
          <p:nvPr/>
        </p:nvSpPr>
        <p:spPr>
          <a:xfrm>
            <a:off x="7553325" y="2552700"/>
            <a:ext cx="388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팀장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7155180" y="2857500"/>
            <a:ext cx="1120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팀장 역할 담당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10253663" y="2552700"/>
            <a:ext cx="582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개발자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9433560" y="2857500"/>
            <a:ext cx="21259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모델 개발 및 시스템 구현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7391400" y="4343400"/>
            <a:ext cx="777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디자이너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6400800" y="4648200"/>
            <a:ext cx="262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UI/UX 디자인 및 사용자 경험 향상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10253663" y="4343400"/>
            <a:ext cx="582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기획자</a:t>
            </a:r>
            <a:endParaRPr lang="en-US" sz="1350" dirty="0"/>
          </a:p>
        </p:txBody>
      </p:sp>
      <p:sp>
        <p:nvSpPr>
          <p:cNvPr id="44" name="Text 18"/>
          <p:cNvSpPr/>
          <p:nvPr/>
        </p:nvSpPr>
        <p:spPr>
          <a:xfrm>
            <a:off x="9290685" y="4648200"/>
            <a:ext cx="2411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기획 및 요구사항 분석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38300"/>
            <a:ext cx="560070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8288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9621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933700"/>
            <a:ext cx="56007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242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2575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229100"/>
            <a:ext cx="560070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4196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455295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219200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1638300"/>
            <a:ext cx="5600700" cy="1828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2669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0350" y="2381250"/>
            <a:ext cx="381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6850" y="22669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4963" y="2381250"/>
            <a:ext cx="104775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283845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43675" y="2952750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86850" y="283845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2100" y="295275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10300" y="3619500"/>
            <a:ext cx="5600700" cy="1752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8900" y="42672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8900" y="46101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8900" y="49530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배경 및 필요성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723900" y="11811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온라인 텍스트 데이터의 감정 분석 필요성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295400" y="18288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대량의 감정 표현 데이터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1295400" y="21336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온라인 채팅, SNS, 포럼 등에서 사용자들은 다양한 감정 상태를 텍스트로 표현하고 있습니다.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295400" y="31242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인식 부족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1295400" y="34290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사용자들의 감정 표현을 자동으로 파악하고 분석하는 기술적 도구의 부족.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295400" y="44196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가치 창출 가능성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1295400" y="47244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분석을 통해 사용자의 감정 상태를 파악하고, 이에 맞는 적절한 조치를 제안할 수 있습니다.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6610350" y="11811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기반 상담 서비스의 사회적 요구</a:t>
            </a:r>
            <a:endParaRPr lang="en-US" sz="1800" dirty="0"/>
          </a:p>
        </p:txBody>
      </p:sp>
      <p:sp>
        <p:nvSpPr>
          <p:cNvPr id="37" name="Text 9"/>
          <p:cNvSpPr/>
          <p:nvPr/>
        </p:nvSpPr>
        <p:spPr>
          <a:xfrm>
            <a:off x="6438900" y="18669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데이터 분석 결과</a:t>
            </a:r>
            <a:endParaRPr lang="en-US" sz="1500" dirty="0"/>
          </a:p>
        </p:txBody>
      </p:sp>
      <p:sp>
        <p:nvSpPr>
          <p:cNvPr id="38" name="Text 10"/>
          <p:cNvSpPr/>
          <p:nvPr/>
        </p:nvSpPr>
        <p:spPr>
          <a:xfrm>
            <a:off x="6896100" y="2247900"/>
            <a:ext cx="12287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불안/걱정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896100" y="2476500"/>
            <a:ext cx="1474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가장 빈번한 감정 표현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9544050" y="2247900"/>
            <a:ext cx="1066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의문/확인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9544050" y="24765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지식적 필요성 높음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6896100" y="2819400"/>
            <a:ext cx="1352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건강/체력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896100" y="30480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신체적 증상에 대한 걱정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9544050" y="2819400"/>
            <a:ext cx="1352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관계/상호작용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9544050" y="3048000"/>
            <a:ext cx="1623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인간적 상황에 대한 질문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6438900" y="38481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사회적 가치</a:t>
            </a:r>
            <a:endParaRPr lang="en-US" sz="1500" dirty="0"/>
          </a:p>
        </p:txBody>
      </p:sp>
      <p:sp>
        <p:nvSpPr>
          <p:cNvPr id="47" name="Text 19"/>
          <p:cNvSpPr/>
          <p:nvPr/>
        </p:nvSpPr>
        <p:spPr>
          <a:xfrm>
            <a:off x="6667500" y="4229100"/>
            <a:ext cx="3920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전문가 리소스 부족으로 인한 상담 접근성 문제 해결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6667500" y="4572000"/>
            <a:ext cx="4011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개인의 감정 건강에 대한 조기 발견 및 개입 기회 제공</a:t>
            </a:r>
            <a:endParaRPr lang="en-US" sz="1200" dirty="0"/>
          </a:p>
        </p:txBody>
      </p:sp>
      <p:sp>
        <p:nvSpPr>
          <p:cNvPr id="49" name="Text 21"/>
          <p:cNvSpPr/>
          <p:nvPr/>
        </p:nvSpPr>
        <p:spPr>
          <a:xfrm>
            <a:off x="6667500" y="4914900"/>
            <a:ext cx="4320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기술을 활용한 개인화된 감정 조절 도구로의 가치 창출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715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12382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828800"/>
            <a:ext cx="3657600" cy="723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0193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705100"/>
            <a:ext cx="36576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8956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581400"/>
            <a:ext cx="365760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771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11049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4363" y="1238250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1828800"/>
            <a:ext cx="3657600" cy="2514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20193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2950" y="20955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259080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4375" y="26670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31623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3900" y="32385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700" y="37338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14850" y="38100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3400" y="11049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0562" y="1238250"/>
            <a:ext cx="2571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1828800"/>
            <a:ext cx="3657600" cy="2286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20574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2362200"/>
            <a:ext cx="762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2667000"/>
            <a:ext cx="762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1242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3429000"/>
            <a:ext cx="762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3733800"/>
            <a:ext cx="762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 및 범위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066800" y="1238250"/>
            <a:ext cx="1657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목표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800100" y="1981200"/>
            <a:ext cx="2828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모델 개발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800100" y="2209800"/>
            <a:ext cx="33947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분석하여 감정 상태를 정확히 파악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838200" y="2857500"/>
            <a:ext cx="2457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상담 기능 구현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838200" y="308610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감정 상태에 따른 맞춤형 상담 제공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800100" y="3733800"/>
            <a:ext cx="22955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지속적인 학습 및 개선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800100" y="3962400"/>
            <a:ext cx="2754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피드백을 통해 시스템의 성능 향상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4953000" y="1238250"/>
            <a:ext cx="1657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범위</a:t>
            </a:r>
            <a:endParaRPr lang="en-US" sz="1800" dirty="0"/>
          </a:p>
        </p:txBody>
      </p:sp>
      <p:sp>
        <p:nvSpPr>
          <p:cNvPr id="41" name="Text 9"/>
          <p:cNvSpPr/>
          <p:nvPr/>
        </p:nvSpPr>
        <p:spPr>
          <a:xfrm>
            <a:off x="4876800" y="2019300"/>
            <a:ext cx="15906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발화 분석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4876800" y="2247900"/>
            <a:ext cx="19088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언어, 톤, 문맥 분석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4876800" y="2590800"/>
            <a:ext cx="19145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인식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4876800" y="2819400"/>
            <a:ext cx="22974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불안, 슬픔, 분노 등 감정 상태 파악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4876800" y="3162300"/>
            <a:ext cx="1924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제공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4876800" y="339090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상담 내용 및 권장사항 제안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4876800" y="3733800"/>
            <a:ext cx="18002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관리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4876800" y="3962400"/>
            <a:ext cx="2160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프로필 관리 및 기록 보관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8839200" y="1238250"/>
            <a:ext cx="11315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 성과</a:t>
            </a:r>
            <a:endParaRPr lang="en-US" sz="1800" dirty="0"/>
          </a:p>
        </p:txBody>
      </p:sp>
      <p:sp>
        <p:nvSpPr>
          <p:cNvPr id="50" name="Text 18"/>
          <p:cNvSpPr/>
          <p:nvPr/>
        </p:nvSpPr>
        <p:spPr>
          <a:xfrm>
            <a:off x="8572500" y="20193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측면</a:t>
            </a:r>
            <a:endParaRPr lang="en-US" sz="1200" dirty="0"/>
          </a:p>
        </p:txBody>
      </p:sp>
      <p:sp>
        <p:nvSpPr>
          <p:cNvPr id="51" name="Text 19"/>
          <p:cNvSpPr/>
          <p:nvPr/>
        </p:nvSpPr>
        <p:spPr>
          <a:xfrm>
            <a:off x="8496300" y="2324100"/>
            <a:ext cx="3531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상태를 정확히 파악하고 이해하는 데 도움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8496300" y="2628900"/>
            <a:ext cx="2583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상담으로 문제 해결에 도움</a:t>
            </a:r>
            <a:endParaRPr lang="en-US" sz="1200" dirty="0"/>
          </a:p>
        </p:txBody>
      </p:sp>
      <p:sp>
        <p:nvSpPr>
          <p:cNvPr id="53" name="Text 21"/>
          <p:cNvSpPr/>
          <p:nvPr/>
        </p:nvSpPr>
        <p:spPr>
          <a:xfrm>
            <a:off x="8572500" y="30861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개발자/연구자 측면</a:t>
            </a:r>
            <a:endParaRPr lang="en-US" sz="1200" dirty="0"/>
          </a:p>
        </p:txBody>
      </p:sp>
      <p:sp>
        <p:nvSpPr>
          <p:cNvPr id="54" name="Text 22"/>
          <p:cNvSpPr/>
          <p:nvPr/>
        </p:nvSpPr>
        <p:spPr>
          <a:xfrm>
            <a:off x="8496300" y="3390900"/>
            <a:ext cx="2240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효율적인 감정 분석 모델 개발</a:t>
            </a:r>
            <a:endParaRPr lang="en-US" sz="1200" dirty="0"/>
          </a:p>
        </p:txBody>
      </p:sp>
      <p:sp>
        <p:nvSpPr>
          <p:cNvPr id="55" name="Text 23"/>
          <p:cNvSpPr/>
          <p:nvPr/>
        </p:nvSpPr>
        <p:spPr>
          <a:xfrm>
            <a:off x="8496300" y="3695700"/>
            <a:ext cx="246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중심의 AI 챗봇 개발 경험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28700"/>
            <a:ext cx="561975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192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3716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57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028700"/>
            <a:ext cx="5619750" cy="2209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12192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13716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2857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429000"/>
            <a:ext cx="5619750" cy="2209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6195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7719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57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3429000"/>
            <a:ext cx="5619750" cy="2209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36195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825" y="377190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5257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5791200"/>
            <a:ext cx="1143000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8900" y="59055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62250" y="60579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3800" y="6129338"/>
            <a:ext cx="381000" cy="9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4800" y="590550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48150" y="60579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1600" y="6129338"/>
            <a:ext cx="381000" cy="952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62600" y="59055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0" y="60579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6129338"/>
            <a:ext cx="381000" cy="952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10400" y="5905500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81850" y="605790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7200" y="6129338"/>
            <a:ext cx="381000" cy="9525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58200" y="5905500"/>
            <a:ext cx="457200" cy="4572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10600" y="6057900"/>
            <a:ext cx="1524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기술 개요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1333500" y="1219200"/>
            <a:ext cx="1725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 API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1333500" y="1524000"/>
            <a:ext cx="1725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OpenAI의 대형 언어 모델</a:t>
            </a:r>
            <a:endParaRPr lang="en-US" sz="1050" dirty="0"/>
          </a:p>
        </p:txBody>
      </p:sp>
      <p:sp>
        <p:nvSpPr>
          <p:cNvPr id="38" name="Text 3"/>
          <p:cNvSpPr/>
          <p:nvPr/>
        </p:nvSpPr>
        <p:spPr>
          <a:xfrm>
            <a:off x="571500" y="1943100"/>
            <a:ext cx="5238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분석하고, 감정 상태에 따라 적합한 답변을 생성합니다. 챗봇의 대화 흐름을 이어가며, 사용자와의 자연어 대화를 가능하게 합니다.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800100" y="28194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대화식 인터페이스 구현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7143750" y="1219200"/>
            <a:ext cx="1762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자연어 처리</a:t>
            </a:r>
            <a:endParaRPr lang="en-US" sz="1500" dirty="0"/>
          </a:p>
        </p:txBody>
      </p:sp>
      <p:sp>
        <p:nvSpPr>
          <p:cNvPr id="41" name="Text 6"/>
          <p:cNvSpPr/>
          <p:nvPr/>
        </p:nvSpPr>
        <p:spPr>
          <a:xfrm>
            <a:off x="7143750" y="15240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Natural Language Processing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6381750" y="1943100"/>
            <a:ext cx="5238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구조화된 정보로 분석하고, 의미를 파악합니다. 문맥을 이해하고, 사용자의 의도를 캡쳐하여 적절한 답변을 생성합니다.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6610350" y="2819400"/>
            <a:ext cx="1725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의도 인식 및 문맥 이해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1333500" y="3619500"/>
            <a:ext cx="2000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알고리즘</a:t>
            </a:r>
            <a:endParaRPr lang="en-US" sz="1500" dirty="0"/>
          </a:p>
        </p:txBody>
      </p:sp>
      <p:sp>
        <p:nvSpPr>
          <p:cNvPr id="45" name="Text 10"/>
          <p:cNvSpPr/>
          <p:nvPr/>
        </p:nvSpPr>
        <p:spPr>
          <a:xfrm>
            <a:off x="1333500" y="3924300"/>
            <a:ext cx="2000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Emotion Analysis Algorithm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571500" y="4343400"/>
            <a:ext cx="5238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발화에서 감정 상태를 감지하고 분석합니다. 텍스트, 톤, 단어 선택 등 다양한 요소를 분석하여 사용자의 감정을 파악합니다.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800100" y="5219700"/>
            <a:ext cx="1725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상태 파악 및 분류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7143750" y="3619500"/>
            <a:ext cx="20231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프롬프트 엔지니어링</a:t>
            </a:r>
            <a:endParaRPr lang="en-US" sz="1500" dirty="0"/>
          </a:p>
        </p:txBody>
      </p:sp>
      <p:sp>
        <p:nvSpPr>
          <p:cNvPr id="49" name="Text 14"/>
          <p:cNvSpPr/>
          <p:nvPr/>
        </p:nvSpPr>
        <p:spPr>
          <a:xfrm>
            <a:off x="7143750" y="3924300"/>
            <a:ext cx="2023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50" name="Text 15"/>
          <p:cNvSpPr/>
          <p:nvPr/>
        </p:nvSpPr>
        <p:spPr>
          <a:xfrm>
            <a:off x="6381750" y="4343400"/>
            <a:ext cx="5238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모델에 주입되는 질문과 지시문을 전문적으로 설계합니다. 사용자의 감정 상태에 따라 적절한 프롬프트를 선택하여, 사용자와의 효과적인 대화를 촉진합니다.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6610350" y="52197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효과적인 프롬프트 설계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3124200" y="5905500"/>
            <a:ext cx="60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 API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4572000" y="6019800"/>
            <a:ext cx="60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NLP</a:t>
            </a: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6019800" y="5905500"/>
            <a:ext cx="60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
분석</a:t>
            </a:r>
            <a:endParaRPr lang="en-US" sz="1200" dirty="0"/>
          </a:p>
        </p:txBody>
      </p:sp>
      <p:sp>
        <p:nvSpPr>
          <p:cNvPr id="55" name="Text 20"/>
          <p:cNvSpPr/>
          <p:nvPr/>
        </p:nvSpPr>
        <p:spPr>
          <a:xfrm>
            <a:off x="7406640" y="60198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프롬프트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8915400" y="5905500"/>
            <a:ext cx="60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
답변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657600" cy="457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46685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47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57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671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076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104900"/>
            <a:ext cx="3657600" cy="457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13335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0" y="14668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224790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28575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5800" y="34671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800" y="40767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104900"/>
            <a:ext cx="3657600" cy="457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13335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4875" y="1466850"/>
            <a:ext cx="2857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22479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30861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0" y="36957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4533900"/>
            <a:ext cx="13335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요구사항 분석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295400" y="1543050"/>
            <a:ext cx="1657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기능 요구사항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876300" y="2209800"/>
            <a:ext cx="2762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발화 분석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876300" y="2438400"/>
            <a:ext cx="331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분석하여 감정 상태를 파악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76300" y="2819400"/>
            <a:ext cx="2876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인식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76300" y="3048000"/>
            <a:ext cx="3451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화, 슬픔, 불안, 행복 등 다양한 감정 상태 인식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95350" y="3429000"/>
            <a:ext cx="2838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응답 생성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895350" y="3657600"/>
            <a:ext cx="3406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인식된 감정에 적합한 상담 내용 및 조언 생성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876300" y="4038600"/>
            <a:ext cx="22955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기록 관리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876300" y="4267200"/>
            <a:ext cx="2754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대화 내용을 저장하고 분석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5181600" y="154305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비기능 요구사항</a:t>
            </a:r>
            <a:endParaRPr lang="en-US" sz="1800" dirty="0"/>
          </a:p>
        </p:txBody>
      </p:sp>
      <p:sp>
        <p:nvSpPr>
          <p:cNvPr id="36" name="Text 11"/>
          <p:cNvSpPr/>
          <p:nvPr/>
        </p:nvSpPr>
        <p:spPr>
          <a:xfrm>
            <a:off x="4781550" y="2209800"/>
            <a:ext cx="26574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성능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4781550" y="2438400"/>
            <a:ext cx="3188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빠른 응답 시간과 정확한 감정 인식 정확도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4743450" y="2819400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보안성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4743450" y="3048000"/>
            <a:ext cx="3017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대화 내용 보호 및 개인정보 보안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4800600" y="3429000"/>
            <a:ext cx="2152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4800600" y="3657600"/>
            <a:ext cx="2583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증가에 따른 시스템 확장성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4781550" y="4038600"/>
            <a:ext cx="2152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안정성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4781550" y="4267200"/>
            <a:ext cx="2583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지속적인 서비스 제공과 오류 처리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9067800" y="1543050"/>
            <a:ext cx="2000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타겟 사용자 정의</a:t>
            </a:r>
            <a:endParaRPr lang="en-US" sz="1800" dirty="0"/>
          </a:p>
        </p:txBody>
      </p:sp>
      <p:sp>
        <p:nvSpPr>
          <p:cNvPr id="45" name="Text 20"/>
          <p:cNvSpPr/>
          <p:nvPr/>
        </p:nvSpPr>
        <p:spPr>
          <a:xfrm>
            <a:off x="8648700" y="220980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대학생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8648700" y="2438400"/>
            <a:ext cx="2933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학교 생활과 관련된 스트레스와 걱정을 가진 사용자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8629650" y="3048000"/>
            <a:ext cx="2762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직장인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8629650" y="3276600"/>
            <a:ext cx="331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업무 스트레스와 생활 균형을 맞추는 사용자</a:t>
            </a:r>
            <a:endParaRPr lang="en-US" sz="1200" dirty="0"/>
          </a:p>
        </p:txBody>
      </p:sp>
      <p:sp>
        <p:nvSpPr>
          <p:cNvPr id="49" name="Text 24"/>
          <p:cNvSpPr/>
          <p:nvPr/>
        </p:nvSpPr>
        <p:spPr>
          <a:xfrm>
            <a:off x="8686800" y="3657600"/>
            <a:ext cx="2895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가족관계에 어려움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8686800" y="38862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가족, 연인, 친구와의 관계에서 고충을 겪는 사용자</a:t>
            </a:r>
            <a:endParaRPr lang="en-US" sz="1200" dirty="0"/>
          </a:p>
        </p:txBody>
      </p:sp>
      <p:sp>
        <p:nvSpPr>
          <p:cNvPr id="51" name="Text 26"/>
          <p:cNvSpPr/>
          <p:nvPr/>
        </p:nvSpPr>
        <p:spPr>
          <a:xfrm>
            <a:off x="8629650" y="4495800"/>
            <a:ext cx="2762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건강에 대한 걱정</a:t>
            </a:r>
            <a:endParaRPr lang="en-US" sz="1200" dirty="0"/>
          </a:p>
        </p:txBody>
      </p:sp>
      <p:sp>
        <p:nvSpPr>
          <p:cNvPr id="52" name="Text 27"/>
          <p:cNvSpPr/>
          <p:nvPr/>
        </p:nvSpPr>
        <p:spPr>
          <a:xfrm>
            <a:off x="8629650" y="4724400"/>
            <a:ext cx="331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건강에 대한 불확실성과 걱정을 가진 사용자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906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33500"/>
            <a:ext cx="2316361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6280" y="14478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105" y="15621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1310" y="1333500"/>
            <a:ext cx="2316361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2790" y="1447800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5190" y="15621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820" y="1333500"/>
            <a:ext cx="2316361" cy="1219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1447800"/>
            <a:ext cx="5334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81700" y="15621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4329" y="1333500"/>
            <a:ext cx="2316361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5810" y="1447800"/>
            <a:ext cx="5334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2497" y="15621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0839" y="1333500"/>
            <a:ext cx="2316361" cy="1219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62320" y="1447800"/>
            <a:ext cx="53340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86145" y="15621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800" y="2743200"/>
            <a:ext cx="25717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800" y="3086100"/>
            <a:ext cx="115824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6271" y="3238500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18196" y="33909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38165" y="3581400"/>
            <a:ext cx="1127671" cy="190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11761" y="3238500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45111" y="339090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93655" y="3581400"/>
            <a:ext cx="1127671" cy="190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67251" y="3238500"/>
            <a:ext cx="4572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19651" y="33909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49294" y="3581400"/>
            <a:ext cx="1127671" cy="190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2741" y="3238500"/>
            <a:ext cx="4572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75141" y="33909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04784" y="3581400"/>
            <a:ext cx="1127671" cy="190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378232" y="3238500"/>
            <a:ext cx="4572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530632" y="33909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4800" y="4800600"/>
            <a:ext cx="171450" cy="2286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04800" y="5143500"/>
            <a:ext cx="3860750" cy="876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9100" y="5295900"/>
            <a:ext cx="1905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165550" y="5143500"/>
            <a:ext cx="3860750" cy="8763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279850" y="529590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26301" y="5143500"/>
            <a:ext cx="3860750" cy="876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140601" y="5295900"/>
            <a:ext cx="133350" cy="1524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 아키텍처</a:t>
            </a:r>
            <a:endParaRPr lang="en-US" sz="2700" dirty="0"/>
          </a:p>
        </p:txBody>
      </p:sp>
      <p:sp>
        <p:nvSpPr>
          <p:cNvPr id="44" name="Text 1"/>
          <p:cNvSpPr/>
          <p:nvPr/>
        </p:nvSpPr>
        <p:spPr>
          <a:xfrm>
            <a:off x="676275" y="9525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 구조 개요</a:t>
            </a:r>
            <a:endParaRPr lang="en-US" sz="1800" dirty="0"/>
          </a:p>
        </p:txBody>
      </p:sp>
      <p:sp>
        <p:nvSpPr>
          <p:cNvPr id="45" name="Text 2"/>
          <p:cNvSpPr/>
          <p:nvPr/>
        </p:nvSpPr>
        <p:spPr>
          <a:xfrm>
            <a:off x="419100" y="2019300"/>
            <a:ext cx="2087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인터페이스</a:t>
            </a:r>
            <a:endParaRPr lang="en-US" sz="1200" dirty="0"/>
          </a:p>
        </p:txBody>
      </p:sp>
      <p:sp>
        <p:nvSpPr>
          <p:cNvPr id="46" name="Text 3"/>
          <p:cNvSpPr/>
          <p:nvPr/>
        </p:nvSpPr>
        <p:spPr>
          <a:xfrm>
            <a:off x="419100" y="2247900"/>
            <a:ext cx="2087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웹/모바일 챗봇</a:t>
            </a:r>
            <a:endParaRPr lang="en-US" sz="1050" dirty="0"/>
          </a:p>
        </p:txBody>
      </p:sp>
      <p:sp>
        <p:nvSpPr>
          <p:cNvPr id="47" name="Text 4"/>
          <p:cNvSpPr/>
          <p:nvPr/>
        </p:nvSpPr>
        <p:spPr>
          <a:xfrm>
            <a:off x="2735610" y="2019300"/>
            <a:ext cx="2087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관리 모듈</a:t>
            </a:r>
            <a:endParaRPr lang="en-US" sz="1200" dirty="0"/>
          </a:p>
        </p:txBody>
      </p:sp>
      <p:sp>
        <p:nvSpPr>
          <p:cNvPr id="48" name="Text 5"/>
          <p:cNvSpPr/>
          <p:nvPr/>
        </p:nvSpPr>
        <p:spPr>
          <a:xfrm>
            <a:off x="2735610" y="2247900"/>
            <a:ext cx="2087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질의/응답 처리</a:t>
            </a:r>
            <a:endParaRPr lang="en-US" sz="1050" dirty="0"/>
          </a:p>
        </p:txBody>
      </p:sp>
      <p:sp>
        <p:nvSpPr>
          <p:cNvPr id="49" name="Text 6"/>
          <p:cNvSpPr/>
          <p:nvPr/>
        </p:nvSpPr>
        <p:spPr>
          <a:xfrm>
            <a:off x="5052120" y="2019300"/>
            <a:ext cx="2087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엔진</a:t>
            </a:r>
            <a:endParaRPr lang="en-US" sz="1200" dirty="0"/>
          </a:p>
        </p:txBody>
      </p:sp>
      <p:sp>
        <p:nvSpPr>
          <p:cNvPr id="50" name="Text 7"/>
          <p:cNvSpPr/>
          <p:nvPr/>
        </p:nvSpPr>
        <p:spPr>
          <a:xfrm>
            <a:off x="5052120" y="2247900"/>
            <a:ext cx="2087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발화 분석/감정 추출</a:t>
            </a:r>
            <a:endParaRPr lang="en-US" sz="1050" dirty="0"/>
          </a:p>
        </p:txBody>
      </p:sp>
      <p:sp>
        <p:nvSpPr>
          <p:cNvPr id="51" name="Text 8"/>
          <p:cNvSpPr/>
          <p:nvPr/>
        </p:nvSpPr>
        <p:spPr>
          <a:xfrm>
            <a:off x="7368629" y="2019300"/>
            <a:ext cx="2087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관리 모듈</a:t>
            </a:r>
            <a:endParaRPr lang="en-US" sz="1200" dirty="0"/>
          </a:p>
        </p:txBody>
      </p:sp>
      <p:sp>
        <p:nvSpPr>
          <p:cNvPr id="52" name="Text 9"/>
          <p:cNvSpPr/>
          <p:nvPr/>
        </p:nvSpPr>
        <p:spPr>
          <a:xfrm>
            <a:off x="7368629" y="2247900"/>
            <a:ext cx="2087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사용자/대화 데이터 저장</a:t>
            </a:r>
            <a:endParaRPr lang="en-US" sz="1050" dirty="0"/>
          </a:p>
        </p:txBody>
      </p:sp>
      <p:sp>
        <p:nvSpPr>
          <p:cNvPr id="53" name="Text 10"/>
          <p:cNvSpPr/>
          <p:nvPr/>
        </p:nvSpPr>
        <p:spPr>
          <a:xfrm>
            <a:off x="9685139" y="2019300"/>
            <a:ext cx="20877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엔진</a:t>
            </a:r>
            <a:endParaRPr lang="en-US" sz="1200" dirty="0"/>
          </a:p>
        </p:txBody>
      </p:sp>
      <p:sp>
        <p:nvSpPr>
          <p:cNvPr id="54" name="Text 11"/>
          <p:cNvSpPr/>
          <p:nvPr/>
        </p:nvSpPr>
        <p:spPr>
          <a:xfrm>
            <a:off x="9685139" y="2247900"/>
            <a:ext cx="2087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응답 생성/상담 제공</a:t>
            </a:r>
            <a:endParaRPr lang="en-US" sz="1050" dirty="0"/>
          </a:p>
        </p:txBody>
      </p:sp>
      <p:sp>
        <p:nvSpPr>
          <p:cNvPr id="55" name="Text 12"/>
          <p:cNvSpPr/>
          <p:nvPr/>
        </p:nvSpPr>
        <p:spPr>
          <a:xfrm>
            <a:off x="676275" y="27051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흐름도</a:t>
            </a:r>
            <a:endParaRPr lang="en-US" sz="1800" dirty="0"/>
          </a:p>
        </p:txBody>
      </p:sp>
      <p:sp>
        <p:nvSpPr>
          <p:cNvPr id="56" name="Text 13"/>
          <p:cNvSpPr/>
          <p:nvPr/>
        </p:nvSpPr>
        <p:spPr>
          <a:xfrm>
            <a:off x="457200" y="3733800"/>
            <a:ext cx="2255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발화</a:t>
            </a:r>
            <a:endParaRPr lang="en-US" sz="1050" dirty="0"/>
          </a:p>
        </p:txBody>
      </p:sp>
      <p:sp>
        <p:nvSpPr>
          <p:cNvPr id="57" name="Text 14"/>
          <p:cNvSpPr/>
          <p:nvPr/>
        </p:nvSpPr>
        <p:spPr>
          <a:xfrm>
            <a:off x="2712690" y="3733800"/>
            <a:ext cx="2255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NLP 처리</a:t>
            </a:r>
            <a:endParaRPr lang="en-US" sz="1050" dirty="0"/>
          </a:p>
        </p:txBody>
      </p:sp>
      <p:sp>
        <p:nvSpPr>
          <p:cNvPr id="58" name="Text 15"/>
          <p:cNvSpPr/>
          <p:nvPr/>
        </p:nvSpPr>
        <p:spPr>
          <a:xfrm>
            <a:off x="4968180" y="3733800"/>
            <a:ext cx="2255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</a:t>
            </a:r>
            <a:endParaRPr lang="en-US" sz="1050" dirty="0"/>
          </a:p>
        </p:txBody>
      </p:sp>
      <p:sp>
        <p:nvSpPr>
          <p:cNvPr id="59" name="Text 16"/>
          <p:cNvSpPr/>
          <p:nvPr/>
        </p:nvSpPr>
        <p:spPr>
          <a:xfrm>
            <a:off x="7223671" y="3733800"/>
            <a:ext cx="2255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응답 생성</a:t>
            </a:r>
            <a:endParaRPr lang="en-US" sz="1050" dirty="0"/>
          </a:p>
        </p:txBody>
      </p:sp>
      <p:sp>
        <p:nvSpPr>
          <p:cNvPr id="60" name="Text 17"/>
          <p:cNvSpPr/>
          <p:nvPr/>
        </p:nvSpPr>
        <p:spPr>
          <a:xfrm>
            <a:off x="9479161" y="3733800"/>
            <a:ext cx="2255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응답</a:t>
            </a:r>
            <a:endParaRPr lang="en-US" sz="1050" dirty="0"/>
          </a:p>
        </p:txBody>
      </p:sp>
      <p:sp>
        <p:nvSpPr>
          <p:cNvPr id="61" name="Text 18"/>
          <p:cNvSpPr/>
          <p:nvPr/>
        </p:nvSpPr>
        <p:spPr>
          <a:xfrm>
            <a:off x="457200" y="4038600"/>
            <a:ext cx="2255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텍스트/음성 입력</a:t>
            </a:r>
            <a:endParaRPr lang="en-US" sz="900" dirty="0"/>
          </a:p>
        </p:txBody>
      </p:sp>
      <p:sp>
        <p:nvSpPr>
          <p:cNvPr id="62" name="Text 19"/>
          <p:cNvSpPr/>
          <p:nvPr/>
        </p:nvSpPr>
        <p:spPr>
          <a:xfrm>
            <a:off x="2712690" y="4038600"/>
            <a:ext cx="2255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의미/의도 파악</a:t>
            </a:r>
            <a:endParaRPr lang="en-US" sz="900" dirty="0"/>
          </a:p>
        </p:txBody>
      </p:sp>
      <p:sp>
        <p:nvSpPr>
          <p:cNvPr id="63" name="Text 20"/>
          <p:cNvSpPr/>
          <p:nvPr/>
        </p:nvSpPr>
        <p:spPr>
          <a:xfrm>
            <a:off x="4968180" y="4038600"/>
            <a:ext cx="2255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상태 추출</a:t>
            </a:r>
            <a:endParaRPr lang="en-US" sz="900" dirty="0"/>
          </a:p>
        </p:txBody>
      </p:sp>
      <p:sp>
        <p:nvSpPr>
          <p:cNvPr id="64" name="Text 21"/>
          <p:cNvSpPr/>
          <p:nvPr/>
        </p:nvSpPr>
        <p:spPr>
          <a:xfrm>
            <a:off x="7223671" y="4038600"/>
            <a:ext cx="2255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콘텐츠/답변</a:t>
            </a:r>
            <a:endParaRPr lang="en-US" sz="900" dirty="0"/>
          </a:p>
        </p:txBody>
      </p:sp>
      <p:sp>
        <p:nvSpPr>
          <p:cNvPr id="65" name="Text 22"/>
          <p:cNvSpPr/>
          <p:nvPr/>
        </p:nvSpPr>
        <p:spPr>
          <a:xfrm>
            <a:off x="9479161" y="4038600"/>
            <a:ext cx="2255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인터페이스 출력</a:t>
            </a:r>
            <a:endParaRPr lang="en-US" sz="900" dirty="0"/>
          </a:p>
        </p:txBody>
      </p:sp>
      <p:sp>
        <p:nvSpPr>
          <p:cNvPr id="66" name="Text 23"/>
          <p:cNvSpPr/>
          <p:nvPr/>
        </p:nvSpPr>
        <p:spPr>
          <a:xfrm>
            <a:off x="590550" y="47625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연동 구조</a:t>
            </a:r>
            <a:endParaRPr lang="en-US" sz="1800" dirty="0"/>
          </a:p>
        </p:txBody>
      </p:sp>
      <p:sp>
        <p:nvSpPr>
          <p:cNvPr id="67" name="Text 24"/>
          <p:cNvSpPr/>
          <p:nvPr/>
        </p:nvSpPr>
        <p:spPr>
          <a:xfrm>
            <a:off x="685800" y="5257800"/>
            <a:ext cx="3632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 API</a:t>
            </a:r>
            <a:endParaRPr lang="en-US" sz="1200" dirty="0"/>
          </a:p>
        </p:txBody>
      </p:sp>
      <p:sp>
        <p:nvSpPr>
          <p:cNvPr id="68" name="Text 25"/>
          <p:cNvSpPr/>
          <p:nvPr/>
        </p:nvSpPr>
        <p:spPr>
          <a:xfrm>
            <a:off x="419100" y="55245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생성 및 관리</a:t>
            </a:r>
            <a:endParaRPr lang="en-US" sz="1050" dirty="0"/>
          </a:p>
        </p:txBody>
      </p:sp>
      <p:sp>
        <p:nvSpPr>
          <p:cNvPr id="69" name="Text 26"/>
          <p:cNvSpPr/>
          <p:nvPr/>
        </p:nvSpPr>
        <p:spPr>
          <a:xfrm>
            <a:off x="419100" y="57150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지속적인 챗봇 대화 흐름 관리</a:t>
            </a:r>
            <a:endParaRPr lang="en-US" sz="1050" dirty="0"/>
          </a:p>
        </p:txBody>
      </p:sp>
      <p:sp>
        <p:nvSpPr>
          <p:cNvPr id="70" name="Text 27"/>
          <p:cNvSpPr/>
          <p:nvPr/>
        </p:nvSpPr>
        <p:spPr>
          <a:xfrm>
            <a:off x="4508450" y="5257800"/>
            <a:ext cx="3632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API</a:t>
            </a:r>
            <a:endParaRPr lang="en-US" sz="1200" dirty="0"/>
          </a:p>
        </p:txBody>
      </p:sp>
      <p:sp>
        <p:nvSpPr>
          <p:cNvPr id="71" name="Text 28"/>
          <p:cNvSpPr/>
          <p:nvPr/>
        </p:nvSpPr>
        <p:spPr>
          <a:xfrm>
            <a:off x="4279850" y="55245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발화 감정 추출</a:t>
            </a:r>
            <a:endParaRPr lang="en-US" sz="1050" dirty="0"/>
          </a:p>
        </p:txBody>
      </p:sp>
      <p:sp>
        <p:nvSpPr>
          <p:cNvPr id="72" name="Text 29"/>
          <p:cNvSpPr/>
          <p:nvPr/>
        </p:nvSpPr>
        <p:spPr>
          <a:xfrm>
            <a:off x="4279850" y="57150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텍스트/음성 기반 감정 분석</a:t>
            </a:r>
            <a:endParaRPr lang="en-US" sz="1050" dirty="0"/>
          </a:p>
        </p:txBody>
      </p:sp>
      <p:sp>
        <p:nvSpPr>
          <p:cNvPr id="73" name="Text 30"/>
          <p:cNvSpPr/>
          <p:nvPr/>
        </p:nvSpPr>
        <p:spPr>
          <a:xfrm>
            <a:off x="8350151" y="5257800"/>
            <a:ext cx="3632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외부 데이터 API</a:t>
            </a:r>
            <a:endParaRPr lang="en-US" sz="1200" dirty="0"/>
          </a:p>
        </p:txBody>
      </p:sp>
      <p:sp>
        <p:nvSpPr>
          <p:cNvPr id="74" name="Text 31"/>
          <p:cNvSpPr/>
          <p:nvPr/>
        </p:nvSpPr>
        <p:spPr>
          <a:xfrm>
            <a:off x="8140601" y="55245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프로필/기록</a:t>
            </a:r>
            <a:endParaRPr lang="en-US" sz="1050" dirty="0"/>
          </a:p>
        </p:txBody>
      </p:sp>
      <p:sp>
        <p:nvSpPr>
          <p:cNvPr id="75" name="Text 32"/>
          <p:cNvSpPr/>
          <p:nvPr/>
        </p:nvSpPr>
        <p:spPr>
          <a:xfrm>
            <a:off x="8140601" y="5715000"/>
            <a:ext cx="363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맞춤화된 콘텐츠 제공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0"/>
            <a:ext cx="3657600" cy="495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676400"/>
            <a:ext cx="3352800" cy="464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1430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1524000"/>
            <a:ext cx="3657600" cy="495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9600" y="1676400"/>
            <a:ext cx="33528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600" y="2438400"/>
            <a:ext cx="33528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3200400"/>
            <a:ext cx="33528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3962400"/>
            <a:ext cx="33528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4724400"/>
            <a:ext cx="33528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143000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1524000"/>
            <a:ext cx="3657600" cy="495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1676400"/>
            <a:ext cx="16002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0100" y="179070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58400" y="1676400"/>
            <a:ext cx="1600200" cy="952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2700" y="17907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5800" y="2781300"/>
            <a:ext cx="16002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0100" y="2895600"/>
            <a:ext cx="1714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58400" y="2781300"/>
            <a:ext cx="1600200" cy="762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72700" y="28956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5800" y="3695700"/>
            <a:ext cx="16002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20100" y="381000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58400" y="3695700"/>
            <a:ext cx="1600200" cy="762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72700" y="3810000"/>
            <a:ext cx="190500" cy="2667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데이터베이스 및 기술 스택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714375" y="11049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ER 다이어그램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4572000" y="11049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테이블 구조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4533900" y="1676400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Users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33900" y="19050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정보를 저장하는 테이블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4533900" y="2133600"/>
            <a:ext cx="3886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id, name, age, gender, created_at</a:t>
            </a:r>
            <a:endParaRPr lang="en-US" sz="900" dirty="0"/>
          </a:p>
        </p:txBody>
      </p:sp>
      <p:sp>
        <p:nvSpPr>
          <p:cNvPr id="34" name="Text 6"/>
          <p:cNvSpPr/>
          <p:nvPr/>
        </p:nvSpPr>
        <p:spPr>
          <a:xfrm>
            <a:off x="4533900" y="2438400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Messages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4533900" y="26670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내용을 저장하는 테이블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4533900" y="2895600"/>
            <a:ext cx="3886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id, user_id, content, created_at</a:t>
            </a:r>
            <a:endParaRPr lang="en-US" sz="900" dirty="0"/>
          </a:p>
        </p:txBody>
      </p:sp>
      <p:sp>
        <p:nvSpPr>
          <p:cNvPr id="37" name="Text 9"/>
          <p:cNvSpPr/>
          <p:nvPr/>
        </p:nvSpPr>
        <p:spPr>
          <a:xfrm>
            <a:off x="4533900" y="3200400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Emotions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4533900" y="34290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결과를 저장하는 테이블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4533900" y="3657600"/>
            <a:ext cx="3886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id, message_id, emotion, score, created_at</a:t>
            </a:r>
            <a:endParaRPr lang="en-US" sz="900" dirty="0"/>
          </a:p>
        </p:txBody>
      </p:sp>
      <p:sp>
        <p:nvSpPr>
          <p:cNvPr id="40" name="Text 12"/>
          <p:cNvSpPr/>
          <p:nvPr/>
        </p:nvSpPr>
        <p:spPr>
          <a:xfrm>
            <a:off x="4533900" y="3962400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Responses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4533900" y="41910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시스템의 답변을 저장하는 테이블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4533900" y="4419600"/>
            <a:ext cx="3886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id, message_id, response, created_at</a:t>
            </a:r>
            <a:endParaRPr lang="en-US" sz="900" dirty="0"/>
          </a:p>
        </p:txBody>
      </p:sp>
      <p:sp>
        <p:nvSpPr>
          <p:cNvPr id="43" name="Text 15"/>
          <p:cNvSpPr/>
          <p:nvPr/>
        </p:nvSpPr>
        <p:spPr>
          <a:xfrm>
            <a:off x="4533900" y="4724400"/>
            <a:ext cx="3238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Feedback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4533900" y="4953000"/>
            <a:ext cx="323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피드백을 저장하는 테이블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4533900" y="5181600"/>
            <a:ext cx="3886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id, user_id, message_id, rating, created_at</a:t>
            </a:r>
            <a:endParaRPr lang="en-US" sz="900" dirty="0"/>
          </a:p>
        </p:txBody>
      </p:sp>
      <p:sp>
        <p:nvSpPr>
          <p:cNvPr id="46" name="Text 18"/>
          <p:cNvSpPr/>
          <p:nvPr/>
        </p:nvSpPr>
        <p:spPr>
          <a:xfrm>
            <a:off x="8515350" y="11049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개발 환경</a:t>
            </a:r>
            <a:endParaRPr lang="en-US" sz="1800" dirty="0"/>
          </a:p>
        </p:txBody>
      </p:sp>
      <p:sp>
        <p:nvSpPr>
          <p:cNvPr id="47" name="Text 19"/>
          <p:cNvSpPr/>
          <p:nvPr/>
        </p:nvSpPr>
        <p:spPr>
          <a:xfrm>
            <a:off x="8667750" y="1809750"/>
            <a:ext cx="594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Python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8420100" y="2133600"/>
            <a:ext cx="137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백엔드 로직 및 AI 모델 연동</a:t>
            </a:r>
            <a:endParaRPr lang="en-US" sz="1050" dirty="0"/>
          </a:p>
        </p:txBody>
      </p:sp>
      <p:sp>
        <p:nvSpPr>
          <p:cNvPr id="49" name="Text 21"/>
          <p:cNvSpPr/>
          <p:nvPr/>
        </p:nvSpPr>
        <p:spPr>
          <a:xfrm>
            <a:off x="10420350" y="1809750"/>
            <a:ext cx="85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0" name="Text 22"/>
          <p:cNvSpPr/>
          <p:nvPr/>
        </p:nvSpPr>
        <p:spPr>
          <a:xfrm>
            <a:off x="10172700" y="2133600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프론트엔드 개발</a:t>
            </a:r>
            <a:endParaRPr lang="en-US" sz="1050" dirty="0"/>
          </a:p>
        </p:txBody>
      </p:sp>
      <p:sp>
        <p:nvSpPr>
          <p:cNvPr id="51" name="Text 23"/>
          <p:cNvSpPr/>
          <p:nvPr/>
        </p:nvSpPr>
        <p:spPr>
          <a:xfrm>
            <a:off x="8667750" y="2914650"/>
            <a:ext cx="994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8420100" y="3238500"/>
            <a:ext cx="1645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관계형 데이터베이스</a:t>
            </a:r>
            <a:endParaRPr lang="en-US" sz="1050" dirty="0"/>
          </a:p>
        </p:txBody>
      </p:sp>
      <p:sp>
        <p:nvSpPr>
          <p:cNvPr id="53" name="Text 25"/>
          <p:cNvSpPr/>
          <p:nvPr/>
        </p:nvSpPr>
        <p:spPr>
          <a:xfrm>
            <a:off x="10439400" y="29146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 API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10172700" y="3238500"/>
            <a:ext cx="1645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지능형 대화 생성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8686800" y="3829050"/>
            <a:ext cx="1062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Emotion API</a:t>
            </a:r>
            <a:endParaRPr lang="en-US" sz="1200" dirty="0"/>
          </a:p>
        </p:txBody>
      </p:sp>
      <p:sp>
        <p:nvSpPr>
          <p:cNvPr id="56" name="Text 28"/>
          <p:cNvSpPr/>
          <p:nvPr/>
        </p:nvSpPr>
        <p:spPr>
          <a:xfrm>
            <a:off x="8420100" y="4152900"/>
            <a:ext cx="1645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서비스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10439400" y="3829050"/>
            <a:ext cx="411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Flask</a:t>
            </a:r>
            <a:endParaRPr lang="en-US" sz="1200" dirty="0"/>
          </a:p>
        </p:txBody>
      </p:sp>
      <p:sp>
        <p:nvSpPr>
          <p:cNvPr id="58" name="Text 30"/>
          <p:cNvSpPr/>
          <p:nvPr/>
        </p:nvSpPr>
        <p:spPr>
          <a:xfrm>
            <a:off x="10172700" y="4152900"/>
            <a:ext cx="1645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웹 서버 프레임워크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866900"/>
            <a:ext cx="36576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0502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924300"/>
            <a:ext cx="3657600" cy="163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162425"/>
            <a:ext cx="219075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4958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953000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219700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1447800"/>
            <a:ext cx="257175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1866900"/>
            <a:ext cx="3657600" cy="400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7700" y="20574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2488" y="2209800"/>
            <a:ext cx="20002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2819400"/>
            <a:ext cx="3276600" cy="2857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3400" y="1447800"/>
            <a:ext cx="2571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866900"/>
            <a:ext cx="3657600" cy="400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43900" y="20574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48688" y="22098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3900" y="2819400"/>
            <a:ext cx="3276600" cy="28575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UI/UX 설계 개요 및 목표 사용자 정의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81000" y="952500"/>
            <a:ext cx="11430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중심 설계 방향과 페르소나 정의 (9/14)</a:t>
            </a:r>
            <a:endParaRPr lang="en-US" sz="1200" dirty="0"/>
          </a:p>
        </p:txBody>
      </p:sp>
      <p:sp>
        <p:nvSpPr>
          <p:cNvPr id="24" name="Text 2"/>
          <p:cNvSpPr/>
          <p:nvPr/>
        </p:nvSpPr>
        <p:spPr>
          <a:xfrm>
            <a:off x="666750" y="14097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설계 개요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819150" y="20574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중심 설계 원칙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571500" y="2400300"/>
            <a:ext cx="3276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기반 AI 상담 시스템에서 사용자의 감정적 상태와 필요를 최우선으로 고려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381000" y="29337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감정 상태에 따른 반응성 있는 인터페이스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381000" y="31623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지나치게 복잡하지 않은 직관적 대화 흐름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381000" y="33909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사용자 프라이버시와 감정적 안전 보장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866775" y="41148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 사용자 그룹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781050" y="4457700"/>
            <a:ext cx="27336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20-30대 대학생/직장인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일상 스트레스와 정서적
지원 필요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819150" y="4914900"/>
            <a:ext cx="3417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40-50대 중년층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가족/직장 관계 및 건강 관련 상담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819150" y="5181600"/>
            <a:ext cx="3337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심리상담 전문가 </a:t>
            </a: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보조 도구로서 활용 및 모니터링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4638675" y="14097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페르소나 1</a:t>
            </a:r>
            <a:endParaRPr lang="en-US" sz="1800" dirty="0"/>
          </a:p>
        </p:txBody>
      </p:sp>
      <p:sp>
        <p:nvSpPr>
          <p:cNvPr id="35" name="Text 13"/>
          <p:cNvSpPr/>
          <p:nvPr/>
        </p:nvSpPr>
        <p:spPr>
          <a:xfrm>
            <a:off x="5219700" y="2114550"/>
            <a:ext cx="1657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김지현, 28세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5219700" y="2381250"/>
            <a:ext cx="165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IT 기업 마케팅 담당자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4457700" y="29718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배경 및 상황: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4457700" y="3238500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업무 스트레스와 경쟁 환경에서 번아웃을 경험 중. 대면 상담은 시간적 여유가 없어 어려움.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4457700" y="37338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목표: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4267200" y="40005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일상 스트레스 관리와 감정 조절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4267200" y="42291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직장 내 인간관계 개선을 위한 조언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4267200" y="44577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자기 효능감 향상 및 업무 능률 개선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4457700" y="47625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니즈: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4267200" y="50292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언제든지 접근 가능한 심리 상담 서비스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4267200" y="52578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개인정보 보호와 비밀 유지</a:t>
            </a:r>
            <a:endParaRPr lang="en-US" sz="1050" dirty="0"/>
          </a:p>
        </p:txBody>
      </p:sp>
      <p:sp>
        <p:nvSpPr>
          <p:cNvPr id="46" name="Text 24"/>
          <p:cNvSpPr/>
          <p:nvPr/>
        </p:nvSpPr>
        <p:spPr>
          <a:xfrm>
            <a:off x="4267200" y="54864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직관적이고 빠른 응답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8524875" y="1409700"/>
            <a:ext cx="365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페르소나 2</a:t>
            </a:r>
            <a:endParaRPr lang="en-US" sz="1800" dirty="0"/>
          </a:p>
        </p:txBody>
      </p:sp>
      <p:sp>
        <p:nvSpPr>
          <p:cNvPr id="48" name="Text 26"/>
          <p:cNvSpPr/>
          <p:nvPr/>
        </p:nvSpPr>
        <p:spPr>
          <a:xfrm>
            <a:off x="9105900" y="2114550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박민수, 45세</a:t>
            </a:r>
            <a:endParaRPr lang="en-US" sz="1350" dirty="0"/>
          </a:p>
        </p:txBody>
      </p:sp>
      <p:sp>
        <p:nvSpPr>
          <p:cNvPr id="49" name="Text 27"/>
          <p:cNvSpPr/>
          <p:nvPr/>
        </p:nvSpPr>
        <p:spPr>
          <a:xfrm>
            <a:off x="9105900" y="2381250"/>
            <a:ext cx="114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중학교 교사</a:t>
            </a:r>
            <a:endParaRPr lang="en-US" sz="1200" dirty="0"/>
          </a:p>
        </p:txBody>
      </p:sp>
      <p:sp>
        <p:nvSpPr>
          <p:cNvPr id="50" name="Text 28"/>
          <p:cNvSpPr/>
          <p:nvPr/>
        </p:nvSpPr>
        <p:spPr>
          <a:xfrm>
            <a:off x="8343900" y="29718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배경 및 상황:</a:t>
            </a:r>
            <a:endParaRPr lang="en-US" sz="1200" dirty="0"/>
          </a:p>
        </p:txBody>
      </p:sp>
      <p:sp>
        <p:nvSpPr>
          <p:cNvPr id="51" name="Text 29"/>
          <p:cNvSpPr/>
          <p:nvPr/>
        </p:nvSpPr>
        <p:spPr>
          <a:xfrm>
            <a:off x="8343900" y="3238500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학생 지도와 가족 부양에 따른 이중 부담으로 불안과 우울감 경험. 주변에 감정 표현을 어려워함.</a:t>
            </a:r>
            <a:endParaRPr lang="en-US" sz="1050" dirty="0"/>
          </a:p>
        </p:txBody>
      </p:sp>
      <p:sp>
        <p:nvSpPr>
          <p:cNvPr id="52" name="Text 30"/>
          <p:cNvSpPr/>
          <p:nvPr/>
        </p:nvSpPr>
        <p:spPr>
          <a:xfrm>
            <a:off x="8343900" y="37338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목표:</a:t>
            </a:r>
            <a:endParaRPr lang="en-US" sz="1200" dirty="0"/>
          </a:p>
        </p:txBody>
      </p:sp>
      <p:sp>
        <p:nvSpPr>
          <p:cNvPr id="53" name="Text 31"/>
          <p:cNvSpPr/>
          <p:nvPr/>
        </p:nvSpPr>
        <p:spPr>
          <a:xfrm>
            <a:off x="8153400" y="40005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불안과 우울 증상 완화</a:t>
            </a:r>
            <a:endParaRPr lang="en-US" sz="1050" dirty="0"/>
          </a:p>
        </p:txBody>
      </p:sp>
      <p:sp>
        <p:nvSpPr>
          <p:cNvPr id="54" name="Text 32"/>
          <p:cNvSpPr/>
          <p:nvPr/>
        </p:nvSpPr>
        <p:spPr>
          <a:xfrm>
            <a:off x="8153400" y="42291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일과 가정 사이의 균형 찾기</a:t>
            </a:r>
            <a:endParaRPr lang="en-US" sz="1050" dirty="0"/>
          </a:p>
        </p:txBody>
      </p:sp>
      <p:sp>
        <p:nvSpPr>
          <p:cNvPr id="55" name="Text 33"/>
          <p:cNvSpPr/>
          <p:nvPr/>
        </p:nvSpPr>
        <p:spPr>
          <a:xfrm>
            <a:off x="8153400" y="4457700"/>
            <a:ext cx="4160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학생 지도에 대한 새로운 접근법 모색</a:t>
            </a:r>
            <a:endParaRPr lang="en-US" sz="1050" dirty="0"/>
          </a:p>
        </p:txBody>
      </p:sp>
      <p:sp>
        <p:nvSpPr>
          <p:cNvPr id="56" name="Text 34"/>
          <p:cNvSpPr/>
          <p:nvPr/>
        </p:nvSpPr>
        <p:spPr>
          <a:xfrm>
            <a:off x="8343900" y="4762500"/>
            <a:ext cx="3276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니즈:</a:t>
            </a:r>
            <a:endParaRPr lang="en-US" sz="1200" dirty="0"/>
          </a:p>
        </p:txBody>
      </p:sp>
      <p:sp>
        <p:nvSpPr>
          <p:cNvPr id="57" name="Text 35"/>
          <p:cNvSpPr/>
          <p:nvPr/>
        </p:nvSpPr>
        <p:spPr>
          <a:xfrm>
            <a:off x="8153400" y="50292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익명성이 보장된 상담 환경</a:t>
            </a:r>
            <a:endParaRPr lang="en-US" sz="1050" dirty="0"/>
          </a:p>
        </p:txBody>
      </p:sp>
      <p:sp>
        <p:nvSpPr>
          <p:cNvPr id="58" name="Text 36"/>
          <p:cNvSpPr/>
          <p:nvPr/>
        </p:nvSpPr>
        <p:spPr>
          <a:xfrm>
            <a:off x="8153400" y="52578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단계별 감정 관리 가이드</a:t>
            </a:r>
            <a:endParaRPr lang="en-US" sz="1050" dirty="0"/>
          </a:p>
        </p:txBody>
      </p:sp>
      <p:sp>
        <p:nvSpPr>
          <p:cNvPr id="59" name="Text 37"/>
          <p:cNvSpPr/>
          <p:nvPr/>
        </p:nvSpPr>
        <p:spPr>
          <a:xfrm>
            <a:off x="8153400" y="5486400"/>
            <a:ext cx="3467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실용적이고 구체적인 조언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2190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71600"/>
            <a:ext cx="57150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1485900"/>
            <a:ext cx="914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6002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5100" y="1485900"/>
            <a:ext cx="9144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575" y="16002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800" y="1485900"/>
            <a:ext cx="9144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1600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0750" y="2133600"/>
            <a:ext cx="9144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71750" y="22479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19450" y="2133600"/>
            <a:ext cx="9144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9500" y="224790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2933700"/>
            <a:ext cx="21907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3238500"/>
            <a:ext cx="5715000" cy="1790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3352800"/>
            <a:ext cx="2676525" cy="1562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3352800"/>
            <a:ext cx="26765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5300" y="34290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24150" y="34290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14650" y="3429000"/>
            <a:ext cx="104775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" y="3657600"/>
            <a:ext cx="2676525" cy="952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5300" y="3733800"/>
            <a:ext cx="1809750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14475" y="4000500"/>
            <a:ext cx="150495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5300" y="4267200"/>
            <a:ext cx="1876425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32435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9100" y="4610100"/>
            <a:ext cx="2676525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7200" y="4648200"/>
            <a:ext cx="2295525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28925" y="4648200"/>
            <a:ext cx="228600" cy="228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867025" y="46863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71825" y="3352800"/>
            <a:ext cx="2733675" cy="1562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48025" y="3448050"/>
            <a:ext cx="114300" cy="114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48025" y="3619500"/>
            <a:ext cx="1252538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76763" y="3619500"/>
            <a:ext cx="1252538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248025" y="4343400"/>
            <a:ext cx="285750" cy="1905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571875" y="4343400"/>
            <a:ext cx="495300" cy="1905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105275" y="4343400"/>
            <a:ext cx="285750" cy="1905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72200" y="1066800"/>
            <a:ext cx="219075" cy="1905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172200" y="1371600"/>
            <a:ext cx="5715000" cy="41529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86500" y="1485900"/>
            <a:ext cx="5486400" cy="1485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362700" y="1562100"/>
            <a:ext cx="5334000" cy="2286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362700" y="1866900"/>
            <a:ext cx="1727150" cy="2286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362700" y="2133600"/>
            <a:ext cx="1727150" cy="2286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362700" y="2400300"/>
            <a:ext cx="1727150" cy="2286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362700" y="2667000"/>
            <a:ext cx="1727150" cy="2286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166050" y="1866900"/>
            <a:ext cx="1727150" cy="228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166050" y="2133600"/>
            <a:ext cx="1727150" cy="2286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166050" y="2400300"/>
            <a:ext cx="1727150" cy="2286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166050" y="2667000"/>
            <a:ext cx="1727150" cy="228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69401" y="1866900"/>
            <a:ext cx="1727150" cy="2286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969401" y="2133600"/>
            <a:ext cx="1727150" cy="2286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969401" y="2400300"/>
            <a:ext cx="1727150" cy="228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969401" y="2667000"/>
            <a:ext cx="1727150" cy="2286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286500" y="3086100"/>
            <a:ext cx="1371600" cy="12192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286500" y="3086100"/>
            <a:ext cx="1371600" cy="3048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324600" y="3429000"/>
            <a:ext cx="1295400" cy="2286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362700" y="3467100"/>
            <a:ext cx="171450" cy="1524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324600" y="3657600"/>
            <a:ext cx="1295400" cy="2286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362700" y="3695700"/>
            <a:ext cx="152400" cy="1524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810500" y="4324350"/>
            <a:ext cx="114300" cy="1143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286500" y="4572000"/>
            <a:ext cx="5486400" cy="8382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286500" y="4876800"/>
            <a:ext cx="1777901" cy="5334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140601" y="4876800"/>
            <a:ext cx="1778050" cy="5334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994850" y="4876800"/>
            <a:ext cx="1778050" cy="533400"/>
          </a:xfrm>
          <a:prstGeom prst="rect">
            <a:avLst/>
          </a:prstGeom>
        </p:spPr>
      </p:pic>
      <p:sp>
        <p:nvSpPr>
          <p:cNvPr id="66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화면 구조 설계</a:t>
            </a:r>
            <a:endParaRPr lang="en-US" sz="2250" dirty="0"/>
          </a:p>
        </p:txBody>
      </p:sp>
      <p:sp>
        <p:nvSpPr>
          <p:cNvPr id="67" name="Text 1"/>
          <p:cNvSpPr/>
          <p:nvPr/>
        </p:nvSpPr>
        <p:spPr>
          <a:xfrm>
            <a:off x="304800" y="7239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화면 구성도 및 정보 구조(IA) (10/14)</a:t>
            </a:r>
            <a:endParaRPr lang="en-US" sz="1050" dirty="0"/>
          </a:p>
        </p:txBody>
      </p:sp>
      <p:sp>
        <p:nvSpPr>
          <p:cNvPr id="68" name="Text 2"/>
          <p:cNvSpPr/>
          <p:nvPr/>
        </p:nvSpPr>
        <p:spPr>
          <a:xfrm>
            <a:off x="600075" y="10287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앱 화면 구조도</a:t>
            </a:r>
            <a:endParaRPr lang="en-US" sz="1500" dirty="0"/>
          </a:p>
        </p:txBody>
      </p:sp>
      <p:sp>
        <p:nvSpPr>
          <p:cNvPr id="69" name="Text 3"/>
          <p:cNvSpPr/>
          <p:nvPr/>
        </p:nvSpPr>
        <p:spPr>
          <a:xfrm>
            <a:off x="1676400" y="1790700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로그인/가입</a:t>
            </a:r>
            <a:endParaRPr lang="en-US" sz="900" dirty="0"/>
          </a:p>
        </p:txBody>
      </p:sp>
      <p:sp>
        <p:nvSpPr>
          <p:cNvPr id="70" name="Text 4"/>
          <p:cNvSpPr/>
          <p:nvPr/>
        </p:nvSpPr>
        <p:spPr>
          <a:xfrm>
            <a:off x="2705100" y="1790700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홈 대시보드</a:t>
            </a:r>
            <a:endParaRPr lang="en-US" sz="900" dirty="0"/>
          </a:p>
        </p:txBody>
      </p:sp>
      <p:sp>
        <p:nvSpPr>
          <p:cNvPr id="71" name="Text 5"/>
          <p:cNvSpPr/>
          <p:nvPr/>
        </p:nvSpPr>
        <p:spPr>
          <a:xfrm>
            <a:off x="3810000" y="1790700"/>
            <a:ext cx="762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채팅</a:t>
            </a:r>
            <a:endParaRPr lang="en-US" sz="900" dirty="0"/>
          </a:p>
        </p:txBody>
      </p:sp>
      <p:sp>
        <p:nvSpPr>
          <p:cNvPr id="72" name="Text 6"/>
          <p:cNvSpPr/>
          <p:nvPr/>
        </p:nvSpPr>
        <p:spPr>
          <a:xfrm>
            <a:off x="2266950" y="2438400"/>
            <a:ext cx="762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</a:t>
            </a:r>
            <a:endParaRPr lang="en-US" sz="900" dirty="0"/>
          </a:p>
        </p:txBody>
      </p:sp>
      <p:sp>
        <p:nvSpPr>
          <p:cNvPr id="73" name="Text 7"/>
          <p:cNvSpPr/>
          <p:nvPr/>
        </p:nvSpPr>
        <p:spPr>
          <a:xfrm>
            <a:off x="3219450" y="2438400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보고서</a:t>
            </a:r>
            <a:endParaRPr lang="en-US" sz="900" dirty="0"/>
          </a:p>
        </p:txBody>
      </p:sp>
      <p:sp>
        <p:nvSpPr>
          <p:cNvPr id="74" name="Text 8"/>
          <p:cNvSpPr/>
          <p:nvPr/>
        </p:nvSpPr>
        <p:spPr>
          <a:xfrm>
            <a:off x="600075" y="28956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챗봇 인터페이스</a:t>
            </a:r>
            <a:endParaRPr lang="en-US" sz="1500" dirty="0"/>
          </a:p>
        </p:txBody>
      </p:sp>
      <p:sp>
        <p:nvSpPr>
          <p:cNvPr id="75" name="Text 9"/>
          <p:cNvSpPr/>
          <p:nvPr/>
        </p:nvSpPr>
        <p:spPr>
          <a:xfrm>
            <a:off x="723900" y="3429000"/>
            <a:ext cx="7086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상담 챗봇</a:t>
            </a:r>
            <a:endParaRPr lang="en-US" sz="900" dirty="0"/>
          </a:p>
        </p:txBody>
      </p:sp>
      <p:sp>
        <p:nvSpPr>
          <p:cNvPr id="76" name="Text 10"/>
          <p:cNvSpPr/>
          <p:nvPr/>
        </p:nvSpPr>
        <p:spPr>
          <a:xfrm>
            <a:off x="571500" y="3733800"/>
            <a:ext cx="2171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안녕하세요. 오늘 기분이 어떠세요?</a:t>
            </a:r>
            <a:endParaRPr lang="en-US" sz="900" dirty="0"/>
          </a:p>
        </p:txBody>
      </p:sp>
      <p:sp>
        <p:nvSpPr>
          <p:cNvPr id="77" name="Text 11"/>
          <p:cNvSpPr/>
          <p:nvPr/>
        </p:nvSpPr>
        <p:spPr>
          <a:xfrm>
            <a:off x="1590675" y="40005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직장에서 스트레스가 있어요.</a:t>
            </a:r>
            <a:endParaRPr lang="en-US" sz="900" dirty="0"/>
          </a:p>
        </p:txBody>
      </p:sp>
      <p:sp>
        <p:nvSpPr>
          <p:cNvPr id="78" name="Text 12"/>
          <p:cNvSpPr/>
          <p:nvPr/>
        </p:nvSpPr>
        <p:spPr>
          <a:xfrm>
            <a:off x="723900" y="4305300"/>
            <a:ext cx="7886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 감지</a:t>
            </a:r>
            <a:endParaRPr lang="en-US" sz="900" dirty="0"/>
          </a:p>
        </p:txBody>
      </p:sp>
      <p:sp>
        <p:nvSpPr>
          <p:cNvPr id="79" name="Text 13"/>
          <p:cNvSpPr/>
          <p:nvPr/>
        </p:nvSpPr>
        <p:spPr>
          <a:xfrm>
            <a:off x="571500" y="4457700"/>
            <a:ext cx="20688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어떤 일이 있었는지 말씀해주실래요?</a:t>
            </a:r>
            <a:endParaRPr lang="en-US" sz="900" dirty="0"/>
          </a:p>
        </p:txBody>
      </p:sp>
      <p:sp>
        <p:nvSpPr>
          <p:cNvPr id="80" name="Text 14"/>
          <p:cNvSpPr/>
          <p:nvPr/>
        </p:nvSpPr>
        <p:spPr>
          <a:xfrm>
            <a:off x="3400425" y="3429000"/>
            <a:ext cx="25812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감정 분석 패널</a:t>
            </a:r>
            <a:endParaRPr lang="en-US" sz="900" dirty="0"/>
          </a:p>
        </p:txBody>
      </p:sp>
      <p:sp>
        <p:nvSpPr>
          <p:cNvPr id="81" name="Text 15"/>
          <p:cNvSpPr/>
          <p:nvPr/>
        </p:nvSpPr>
        <p:spPr>
          <a:xfrm>
            <a:off x="3286125" y="3657600"/>
            <a:ext cx="11763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감정</a:t>
            </a:r>
            <a:endParaRPr lang="en-US" sz="900" dirty="0"/>
          </a:p>
        </p:txBody>
      </p:sp>
      <p:sp>
        <p:nvSpPr>
          <p:cNvPr id="82" name="Text 16"/>
          <p:cNvSpPr/>
          <p:nvPr/>
        </p:nvSpPr>
        <p:spPr>
          <a:xfrm>
            <a:off x="3324225" y="3867150"/>
            <a:ext cx="9372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EE2E2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 68%</a:t>
            </a:r>
            <a:endParaRPr lang="en-US" sz="900" dirty="0"/>
          </a:p>
        </p:txBody>
      </p:sp>
      <p:sp>
        <p:nvSpPr>
          <p:cNvPr id="83" name="Text 17"/>
          <p:cNvSpPr/>
          <p:nvPr/>
        </p:nvSpPr>
        <p:spPr>
          <a:xfrm>
            <a:off x="4614863" y="3657600"/>
            <a:ext cx="11763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추천 방향</a:t>
            </a:r>
            <a:endParaRPr lang="en-US" sz="900" dirty="0"/>
          </a:p>
        </p:txBody>
      </p:sp>
      <p:sp>
        <p:nvSpPr>
          <p:cNvPr id="84" name="Text 18"/>
          <p:cNvSpPr/>
          <p:nvPr/>
        </p:nvSpPr>
        <p:spPr>
          <a:xfrm>
            <a:off x="4652963" y="3867150"/>
            <a:ext cx="8801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DCFCE7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 관리</a:t>
            </a:r>
            <a:endParaRPr lang="en-US" sz="900" dirty="0"/>
          </a:p>
        </p:txBody>
      </p:sp>
      <p:sp>
        <p:nvSpPr>
          <p:cNvPr id="85" name="Text 19"/>
          <p:cNvSpPr/>
          <p:nvPr/>
        </p:nvSpPr>
        <p:spPr>
          <a:xfrm>
            <a:off x="3248025" y="4152900"/>
            <a:ext cx="25812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키워드</a:t>
            </a:r>
            <a:endParaRPr lang="en-US" sz="900" dirty="0"/>
          </a:p>
        </p:txBody>
      </p:sp>
      <p:sp>
        <p:nvSpPr>
          <p:cNvPr id="86" name="Text 20"/>
          <p:cNvSpPr/>
          <p:nvPr/>
        </p:nvSpPr>
        <p:spPr>
          <a:xfrm>
            <a:off x="3286125" y="4343400"/>
            <a:ext cx="285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</a:t>
            </a:r>
            <a:endParaRPr lang="en-US" sz="900" dirty="0"/>
          </a:p>
        </p:txBody>
      </p:sp>
      <p:sp>
        <p:nvSpPr>
          <p:cNvPr id="87" name="Text 21"/>
          <p:cNvSpPr/>
          <p:nvPr/>
        </p:nvSpPr>
        <p:spPr>
          <a:xfrm>
            <a:off x="3609975" y="4343400"/>
            <a:ext cx="594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</a:t>
            </a:r>
            <a:endParaRPr lang="en-US" sz="900" dirty="0"/>
          </a:p>
        </p:txBody>
      </p:sp>
      <p:sp>
        <p:nvSpPr>
          <p:cNvPr id="88" name="Text 22"/>
          <p:cNvSpPr/>
          <p:nvPr/>
        </p:nvSpPr>
        <p:spPr>
          <a:xfrm>
            <a:off x="4143375" y="4343400"/>
            <a:ext cx="285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업무</a:t>
            </a:r>
            <a:endParaRPr lang="en-US" sz="900" dirty="0"/>
          </a:p>
        </p:txBody>
      </p:sp>
      <p:sp>
        <p:nvSpPr>
          <p:cNvPr id="89" name="Text 23"/>
          <p:cNvSpPr/>
          <p:nvPr/>
        </p:nvSpPr>
        <p:spPr>
          <a:xfrm>
            <a:off x="6467475" y="10287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정보 구조(IA)</a:t>
            </a:r>
            <a:endParaRPr lang="en-US" sz="1500" dirty="0"/>
          </a:p>
        </p:txBody>
      </p:sp>
      <p:sp>
        <p:nvSpPr>
          <p:cNvPr id="90" name="Text 24"/>
          <p:cNvSpPr/>
          <p:nvPr/>
        </p:nvSpPr>
        <p:spPr>
          <a:xfrm>
            <a:off x="6362700" y="15621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F46E5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서비스 IA 구조</a:t>
            </a:r>
            <a:endParaRPr lang="en-US" sz="1050" dirty="0"/>
          </a:p>
        </p:txBody>
      </p:sp>
      <p:sp>
        <p:nvSpPr>
          <p:cNvPr id="91" name="Text 25"/>
          <p:cNvSpPr/>
          <p:nvPr/>
        </p:nvSpPr>
        <p:spPr>
          <a:xfrm>
            <a:off x="11449050" y="1581150"/>
            <a:ext cx="2971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V1.0</a:t>
            </a:r>
            <a:endParaRPr lang="en-US" sz="900" dirty="0"/>
          </a:p>
        </p:txBody>
      </p:sp>
      <p:sp>
        <p:nvSpPr>
          <p:cNvPr id="92" name="Text 26"/>
          <p:cNvSpPr/>
          <p:nvPr/>
        </p:nvSpPr>
        <p:spPr>
          <a:xfrm>
            <a:off x="6362700" y="18669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관리</a:t>
            </a:r>
            <a:endParaRPr lang="en-US" sz="900" dirty="0"/>
          </a:p>
        </p:txBody>
      </p:sp>
      <p:sp>
        <p:nvSpPr>
          <p:cNvPr id="93" name="Text 27"/>
          <p:cNvSpPr/>
          <p:nvPr/>
        </p:nvSpPr>
        <p:spPr>
          <a:xfrm>
            <a:off x="6362700" y="21336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로그인</a:t>
            </a:r>
            <a:endParaRPr lang="en-US" sz="900" dirty="0"/>
          </a:p>
        </p:txBody>
      </p:sp>
      <p:sp>
        <p:nvSpPr>
          <p:cNvPr id="94" name="Text 28"/>
          <p:cNvSpPr/>
          <p:nvPr/>
        </p:nvSpPr>
        <p:spPr>
          <a:xfrm>
            <a:off x="6362700" y="24003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회원가입</a:t>
            </a:r>
            <a:endParaRPr lang="en-US" sz="900" dirty="0"/>
          </a:p>
        </p:txBody>
      </p:sp>
      <p:sp>
        <p:nvSpPr>
          <p:cNvPr id="95" name="Text 29"/>
          <p:cNvSpPr/>
          <p:nvPr/>
        </p:nvSpPr>
        <p:spPr>
          <a:xfrm>
            <a:off x="6362700" y="26670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프로필 설정</a:t>
            </a:r>
            <a:endParaRPr lang="en-US" sz="900" dirty="0"/>
          </a:p>
        </p:txBody>
      </p:sp>
      <p:sp>
        <p:nvSpPr>
          <p:cNvPr id="96" name="Text 30"/>
          <p:cNvSpPr/>
          <p:nvPr/>
        </p:nvSpPr>
        <p:spPr>
          <a:xfrm>
            <a:off x="8166050" y="18669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기능</a:t>
            </a:r>
            <a:endParaRPr lang="en-US" sz="900" dirty="0"/>
          </a:p>
        </p:txBody>
      </p:sp>
      <p:sp>
        <p:nvSpPr>
          <p:cNvPr id="97" name="Text 31"/>
          <p:cNvSpPr/>
          <p:nvPr/>
        </p:nvSpPr>
        <p:spPr>
          <a:xfrm>
            <a:off x="8166050" y="21336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평가</a:t>
            </a:r>
            <a:endParaRPr lang="en-US" sz="900" dirty="0"/>
          </a:p>
        </p:txBody>
      </p:sp>
      <p:sp>
        <p:nvSpPr>
          <p:cNvPr id="98" name="Text 32"/>
          <p:cNvSpPr/>
          <p:nvPr/>
        </p:nvSpPr>
        <p:spPr>
          <a:xfrm>
            <a:off x="8166050" y="24003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일상 대화</a:t>
            </a:r>
            <a:endParaRPr lang="en-US" sz="900" dirty="0"/>
          </a:p>
        </p:txBody>
      </p:sp>
      <p:sp>
        <p:nvSpPr>
          <p:cNvPr id="99" name="Text 33"/>
          <p:cNvSpPr/>
          <p:nvPr/>
        </p:nvSpPr>
        <p:spPr>
          <a:xfrm>
            <a:off x="8166050" y="26670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집중 상담</a:t>
            </a:r>
            <a:endParaRPr lang="en-US" sz="900" dirty="0"/>
          </a:p>
        </p:txBody>
      </p:sp>
      <p:sp>
        <p:nvSpPr>
          <p:cNvPr id="100" name="Text 34"/>
          <p:cNvSpPr/>
          <p:nvPr/>
        </p:nvSpPr>
        <p:spPr>
          <a:xfrm>
            <a:off x="9969401" y="18669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A855F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&amp; 설정</a:t>
            </a:r>
            <a:endParaRPr lang="en-US" sz="900" dirty="0"/>
          </a:p>
        </p:txBody>
      </p:sp>
      <p:sp>
        <p:nvSpPr>
          <p:cNvPr id="101" name="Text 35"/>
          <p:cNvSpPr/>
          <p:nvPr/>
        </p:nvSpPr>
        <p:spPr>
          <a:xfrm>
            <a:off x="9969401" y="21336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기록</a:t>
            </a:r>
            <a:endParaRPr lang="en-US" sz="900" dirty="0"/>
          </a:p>
        </p:txBody>
      </p:sp>
      <p:sp>
        <p:nvSpPr>
          <p:cNvPr id="102" name="Text 36"/>
          <p:cNvSpPr/>
          <p:nvPr/>
        </p:nvSpPr>
        <p:spPr>
          <a:xfrm>
            <a:off x="9969401" y="24003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분석 보고서</a:t>
            </a:r>
            <a:endParaRPr lang="en-US" sz="900" dirty="0"/>
          </a:p>
        </p:txBody>
      </p:sp>
      <p:sp>
        <p:nvSpPr>
          <p:cNvPr id="103" name="Text 37"/>
          <p:cNvSpPr/>
          <p:nvPr/>
        </p:nvSpPr>
        <p:spPr>
          <a:xfrm>
            <a:off x="9969401" y="2667000"/>
            <a:ext cx="1727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알림 설정</a:t>
            </a:r>
            <a:endParaRPr lang="en-US" sz="900" dirty="0"/>
          </a:p>
        </p:txBody>
      </p:sp>
      <p:sp>
        <p:nvSpPr>
          <p:cNvPr id="104" name="Text 38"/>
          <p:cNvSpPr/>
          <p:nvPr/>
        </p:nvSpPr>
        <p:spPr>
          <a:xfrm>
            <a:off x="6703695" y="3200400"/>
            <a:ext cx="53721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모바일 앱</a:t>
            </a:r>
            <a:endParaRPr lang="en-US" sz="900" dirty="0"/>
          </a:p>
        </p:txBody>
      </p:sp>
      <p:sp>
        <p:nvSpPr>
          <p:cNvPr id="105" name="Text 39"/>
          <p:cNvSpPr/>
          <p:nvPr/>
        </p:nvSpPr>
        <p:spPr>
          <a:xfrm>
            <a:off x="6572250" y="34671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홈</a:t>
            </a:r>
            <a:endParaRPr lang="en-US" sz="900" dirty="0"/>
          </a:p>
        </p:txBody>
      </p:sp>
      <p:sp>
        <p:nvSpPr>
          <p:cNvPr id="106" name="Text 40"/>
          <p:cNvSpPr/>
          <p:nvPr/>
        </p:nvSpPr>
        <p:spPr>
          <a:xfrm>
            <a:off x="6553200" y="3695700"/>
            <a:ext cx="251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</a:t>
            </a:r>
            <a:endParaRPr lang="en-US" sz="900" dirty="0"/>
          </a:p>
        </p:txBody>
      </p:sp>
      <p:sp>
        <p:nvSpPr>
          <p:cNvPr id="107" name="Text 41"/>
          <p:cNvSpPr/>
          <p:nvPr/>
        </p:nvSpPr>
        <p:spPr>
          <a:xfrm>
            <a:off x="7810500" y="3086100"/>
            <a:ext cx="396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앱/웹 화면 흐름도</a:t>
            </a:r>
            <a:endParaRPr lang="en-US" sz="1050" dirty="0"/>
          </a:p>
        </p:txBody>
      </p:sp>
      <p:sp>
        <p:nvSpPr>
          <p:cNvPr id="108" name="Text 42"/>
          <p:cNvSpPr/>
          <p:nvPr/>
        </p:nvSpPr>
        <p:spPr>
          <a:xfrm>
            <a:off x="7620000" y="3314700"/>
            <a:ext cx="415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사용자 인증 후 홈 대시보드로 이동</a:t>
            </a:r>
            <a:endParaRPr lang="en-US" sz="900" dirty="0"/>
          </a:p>
        </p:txBody>
      </p:sp>
      <p:sp>
        <p:nvSpPr>
          <p:cNvPr id="109" name="Text 43"/>
          <p:cNvSpPr/>
          <p:nvPr/>
        </p:nvSpPr>
        <p:spPr>
          <a:xfrm>
            <a:off x="7620000" y="3505200"/>
            <a:ext cx="415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감정 상태에 따른 맞춤형 상담 화면 구성</a:t>
            </a:r>
            <a:endParaRPr lang="en-US" sz="900" dirty="0"/>
          </a:p>
        </p:txBody>
      </p:sp>
      <p:sp>
        <p:nvSpPr>
          <p:cNvPr id="110" name="Text 44"/>
          <p:cNvSpPr/>
          <p:nvPr/>
        </p:nvSpPr>
        <p:spPr>
          <a:xfrm>
            <a:off x="7620000" y="3695700"/>
            <a:ext cx="415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대화 흐름에 따른 동적 UI 업데이트</a:t>
            </a:r>
            <a:endParaRPr lang="en-US" sz="900" dirty="0"/>
          </a:p>
        </p:txBody>
      </p:sp>
      <p:sp>
        <p:nvSpPr>
          <p:cNvPr id="111" name="Text 45"/>
          <p:cNvSpPr/>
          <p:nvPr/>
        </p:nvSpPr>
        <p:spPr>
          <a:xfrm>
            <a:off x="7620000" y="3886200"/>
            <a:ext cx="415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감정 분석 결과를 시각적으로 표시</a:t>
            </a:r>
            <a:endParaRPr lang="en-US" sz="900" dirty="0"/>
          </a:p>
        </p:txBody>
      </p:sp>
      <p:sp>
        <p:nvSpPr>
          <p:cNvPr id="112" name="Text 46"/>
          <p:cNvSpPr/>
          <p:nvPr/>
        </p:nvSpPr>
        <p:spPr>
          <a:xfrm>
            <a:off x="7620000" y="4076700"/>
            <a:ext cx="4152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• 상담 히스토리와 통계 데이터 접근성 확보</a:t>
            </a:r>
            <a:endParaRPr lang="en-US" sz="900" dirty="0"/>
          </a:p>
        </p:txBody>
      </p:sp>
      <p:sp>
        <p:nvSpPr>
          <p:cNvPr id="113" name="Text 47"/>
          <p:cNvSpPr/>
          <p:nvPr/>
        </p:nvSpPr>
        <p:spPr>
          <a:xfrm>
            <a:off x="7962900" y="4305300"/>
            <a:ext cx="27203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화면 간 자연스러운 전환으로 사용자 경험 최적화</a:t>
            </a:r>
            <a:endParaRPr lang="en-US" sz="900" dirty="0"/>
          </a:p>
        </p:txBody>
      </p:sp>
      <p:sp>
        <p:nvSpPr>
          <p:cNvPr id="114" name="Text 48"/>
          <p:cNvSpPr/>
          <p:nvPr/>
        </p:nvSpPr>
        <p:spPr>
          <a:xfrm>
            <a:off x="6286500" y="4648200"/>
            <a:ext cx="5486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정보 구조 특징</a:t>
            </a:r>
            <a:endParaRPr lang="en-US" sz="1050" dirty="0"/>
          </a:p>
        </p:txBody>
      </p:sp>
      <p:sp>
        <p:nvSpPr>
          <p:cNvPr id="115" name="Text 49"/>
          <p:cNvSpPr/>
          <p:nvPr/>
        </p:nvSpPr>
        <p:spPr>
          <a:xfrm>
            <a:off x="6324600" y="4914900"/>
            <a:ext cx="17017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접근성</a:t>
            </a:r>
            <a:endParaRPr lang="en-US" sz="900" dirty="0"/>
          </a:p>
        </p:txBody>
      </p:sp>
      <p:sp>
        <p:nvSpPr>
          <p:cNvPr id="116" name="Text 50"/>
          <p:cNvSpPr/>
          <p:nvPr/>
        </p:nvSpPr>
        <p:spPr>
          <a:xfrm>
            <a:off x="6324600" y="5067300"/>
            <a:ext cx="17017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직관적 내비게이션으로 필요한 기능에 빠르게 접근</a:t>
            </a:r>
            <a:endParaRPr lang="en-US" sz="900" dirty="0"/>
          </a:p>
        </p:txBody>
      </p:sp>
      <p:sp>
        <p:nvSpPr>
          <p:cNvPr id="117" name="Text 51"/>
          <p:cNvSpPr/>
          <p:nvPr/>
        </p:nvSpPr>
        <p:spPr>
          <a:xfrm>
            <a:off x="8178701" y="4914900"/>
            <a:ext cx="1701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일관성</a:t>
            </a:r>
            <a:endParaRPr lang="en-US" sz="900" dirty="0"/>
          </a:p>
        </p:txBody>
      </p:sp>
      <p:sp>
        <p:nvSpPr>
          <p:cNvPr id="118" name="Text 52"/>
          <p:cNvSpPr/>
          <p:nvPr/>
        </p:nvSpPr>
        <p:spPr>
          <a:xfrm>
            <a:off x="8178701" y="5067300"/>
            <a:ext cx="1701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모든 화면에서 일관된 UI 요소와 상호작용 패턴 유지</a:t>
            </a:r>
            <a:endParaRPr lang="en-US" sz="900" dirty="0"/>
          </a:p>
        </p:txBody>
      </p:sp>
      <p:sp>
        <p:nvSpPr>
          <p:cNvPr id="119" name="Text 53"/>
          <p:cNvSpPr/>
          <p:nvPr/>
        </p:nvSpPr>
        <p:spPr>
          <a:xfrm>
            <a:off x="10032950" y="4914900"/>
            <a:ext cx="1701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855F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확장성</a:t>
            </a:r>
            <a:endParaRPr lang="en-US" sz="900" dirty="0"/>
          </a:p>
        </p:txBody>
      </p:sp>
      <p:sp>
        <p:nvSpPr>
          <p:cNvPr id="120" name="Text 54"/>
          <p:cNvSpPr/>
          <p:nvPr/>
        </p:nvSpPr>
        <p:spPr>
          <a:xfrm>
            <a:off x="10032950" y="5067300"/>
            <a:ext cx="1701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기능 추가를 고려한 모듈식 구조 설계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371600"/>
            <a:ext cx="5715000" cy="2476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00" y="1485900"/>
            <a:ext cx="12192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16002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700" y="1485900"/>
            <a:ext cx="12192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6575" y="16002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4300" y="1485900"/>
            <a:ext cx="12192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1600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5625" y="22479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1100" y="2552700"/>
            <a:ext cx="12192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500" y="2667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52700" y="2552700"/>
            <a:ext cx="12192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9011" y="2534211"/>
            <a:ext cx="646579" cy="64657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4300" y="2552700"/>
            <a:ext cx="12192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76750" y="26670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3314700"/>
            <a:ext cx="548640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3600450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71575" y="360045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28825" y="3600450"/>
            <a:ext cx="114300" cy="114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86075" y="3600450"/>
            <a:ext cx="114300" cy="114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3962400"/>
            <a:ext cx="5715000" cy="1562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1066800"/>
            <a:ext cx="123825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72200" y="1371600"/>
            <a:ext cx="5715000" cy="1943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86500" y="14859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1790700"/>
            <a:ext cx="5372100" cy="1409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77013" y="2228850"/>
            <a:ext cx="104775" cy="114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77013" y="2438400"/>
            <a:ext cx="104775" cy="114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77013" y="2647950"/>
            <a:ext cx="104775" cy="114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77013" y="2857500"/>
            <a:ext cx="104775" cy="114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77013" y="3067050"/>
            <a:ext cx="104775" cy="114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72200" y="3429000"/>
            <a:ext cx="5715000" cy="3048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86500" y="3543300"/>
            <a:ext cx="228600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00800" y="3848100"/>
            <a:ext cx="5372100" cy="14097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7013" y="4286250"/>
            <a:ext cx="104775" cy="114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7013" y="4495800"/>
            <a:ext cx="104775" cy="1143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7013" y="4705350"/>
            <a:ext cx="104775" cy="1143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7013" y="4914900"/>
            <a:ext cx="104775" cy="1143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77013" y="5124450"/>
            <a:ext cx="104775" cy="114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86500" y="5372100"/>
            <a:ext cx="5486400" cy="9906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86500" y="5448300"/>
            <a:ext cx="914400" cy="914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86500" y="5448300"/>
            <a:ext cx="914400" cy="3048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86500" y="5753100"/>
            <a:ext cx="914400" cy="5715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24600" y="5981700"/>
            <a:ext cx="8382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24600" y="5981700"/>
            <a:ext cx="586680" cy="114300"/>
          </a:xfrm>
          <a:prstGeom prst="rect">
            <a:avLst/>
          </a:prstGeom>
        </p:spPr>
      </p:pic>
      <p:sp>
        <p:nvSpPr>
          <p:cNvPr id="48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흐름(Flow) 설계</a:t>
            </a:r>
            <a:endParaRPr lang="en-US" sz="2250" dirty="0"/>
          </a:p>
        </p:txBody>
      </p:sp>
      <p:sp>
        <p:nvSpPr>
          <p:cNvPr id="49" name="Text 1"/>
          <p:cNvSpPr/>
          <p:nvPr/>
        </p:nvSpPr>
        <p:spPr>
          <a:xfrm>
            <a:off x="304800" y="723900"/>
            <a:ext cx="11582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화면 간 이동 흐름도 및 주요 동작 시나리오 (11/13)</a:t>
            </a:r>
            <a:endParaRPr lang="en-US" sz="1050" dirty="0"/>
          </a:p>
        </p:txBody>
      </p:sp>
      <p:sp>
        <p:nvSpPr>
          <p:cNvPr id="50" name="Text 2"/>
          <p:cNvSpPr/>
          <p:nvPr/>
        </p:nvSpPr>
        <p:spPr>
          <a:xfrm>
            <a:off x="571500" y="10287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화면 간 이동 흐름도</a:t>
            </a:r>
            <a:endParaRPr lang="en-US" sz="1500" dirty="0"/>
          </a:p>
        </p:txBody>
      </p:sp>
      <p:sp>
        <p:nvSpPr>
          <p:cNvPr id="51" name="Text 3"/>
          <p:cNvSpPr/>
          <p:nvPr/>
        </p:nvSpPr>
        <p:spPr>
          <a:xfrm>
            <a:off x="1150620" y="1828800"/>
            <a:ext cx="1280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로그인/회원가입</a:t>
            </a:r>
            <a:endParaRPr lang="en-US" sz="900" dirty="0"/>
          </a:p>
        </p:txBody>
      </p:sp>
      <p:sp>
        <p:nvSpPr>
          <p:cNvPr id="52" name="Text 4"/>
          <p:cNvSpPr/>
          <p:nvPr/>
        </p:nvSpPr>
        <p:spPr>
          <a:xfrm>
            <a:off x="2628900" y="1828800"/>
            <a:ext cx="1066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메인 대시보드</a:t>
            </a:r>
            <a:endParaRPr lang="en-US" sz="900" dirty="0"/>
          </a:p>
        </p:txBody>
      </p:sp>
      <p:sp>
        <p:nvSpPr>
          <p:cNvPr id="53" name="Text 5"/>
          <p:cNvSpPr/>
          <p:nvPr/>
        </p:nvSpPr>
        <p:spPr>
          <a:xfrm>
            <a:off x="3893820" y="1828800"/>
            <a:ext cx="1280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인터페이스</a:t>
            </a:r>
            <a:endParaRPr lang="en-US" sz="900" dirty="0"/>
          </a:p>
        </p:txBody>
      </p:sp>
      <p:sp>
        <p:nvSpPr>
          <p:cNvPr id="54" name="Text 6"/>
          <p:cNvSpPr/>
          <p:nvPr/>
        </p:nvSpPr>
        <p:spPr>
          <a:xfrm>
            <a:off x="1257300" y="2895600"/>
            <a:ext cx="1066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프로필</a:t>
            </a:r>
            <a:endParaRPr lang="en-US" sz="900" dirty="0"/>
          </a:p>
        </p:txBody>
      </p:sp>
      <p:sp>
        <p:nvSpPr>
          <p:cNvPr id="55" name="Text 7"/>
          <p:cNvSpPr/>
          <p:nvPr/>
        </p:nvSpPr>
        <p:spPr>
          <a:xfrm>
            <a:off x="2950141" y="2645341"/>
            <a:ext cx="424317" cy="4243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</a:t>
            </a:r>
            <a:endParaRPr lang="en-US" sz="900" dirty="0"/>
          </a:p>
        </p:txBody>
      </p:sp>
      <p:sp>
        <p:nvSpPr>
          <p:cNvPr id="56" name="Text 8"/>
          <p:cNvSpPr/>
          <p:nvPr/>
        </p:nvSpPr>
        <p:spPr>
          <a:xfrm>
            <a:off x="4000500" y="2895600"/>
            <a:ext cx="1066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결과</a:t>
            </a:r>
            <a:endParaRPr lang="en-US" sz="900" dirty="0"/>
          </a:p>
        </p:txBody>
      </p:sp>
      <p:sp>
        <p:nvSpPr>
          <p:cNvPr id="57" name="Text 9"/>
          <p:cNvSpPr/>
          <p:nvPr/>
        </p:nvSpPr>
        <p:spPr>
          <a:xfrm>
            <a:off x="419100" y="3390900"/>
            <a:ext cx="5486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흐름도 범례:</a:t>
            </a:r>
            <a:endParaRPr lang="en-US" sz="900" dirty="0"/>
          </a:p>
        </p:txBody>
      </p:sp>
      <p:sp>
        <p:nvSpPr>
          <p:cNvPr id="58" name="Text 10"/>
          <p:cNvSpPr/>
          <p:nvPr/>
        </p:nvSpPr>
        <p:spPr>
          <a:xfrm>
            <a:off x="571500" y="3581400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기본 화면</a:t>
            </a:r>
            <a:endParaRPr lang="en-US" sz="900" dirty="0"/>
          </a:p>
        </p:txBody>
      </p:sp>
      <p:sp>
        <p:nvSpPr>
          <p:cNvPr id="59" name="Text 11"/>
          <p:cNvSpPr/>
          <p:nvPr/>
        </p:nvSpPr>
        <p:spPr>
          <a:xfrm>
            <a:off x="1323975" y="3581400"/>
            <a:ext cx="6629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관련</a:t>
            </a:r>
            <a:endParaRPr lang="en-US" sz="900" dirty="0"/>
          </a:p>
        </p:txBody>
      </p:sp>
      <p:sp>
        <p:nvSpPr>
          <p:cNvPr id="60" name="Text 12"/>
          <p:cNvSpPr/>
          <p:nvPr/>
        </p:nvSpPr>
        <p:spPr>
          <a:xfrm>
            <a:off x="2181225" y="3581400"/>
            <a:ext cx="6629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결정 분기점</a:t>
            </a:r>
            <a:endParaRPr lang="en-US" sz="900" dirty="0"/>
          </a:p>
        </p:txBody>
      </p:sp>
      <p:sp>
        <p:nvSpPr>
          <p:cNvPr id="61" name="Text 13"/>
          <p:cNvSpPr/>
          <p:nvPr/>
        </p:nvSpPr>
        <p:spPr>
          <a:xfrm>
            <a:off x="3038475" y="3581400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결과 화면</a:t>
            </a:r>
            <a:endParaRPr lang="en-US" sz="900" dirty="0"/>
          </a:p>
        </p:txBody>
      </p:sp>
      <p:sp>
        <p:nvSpPr>
          <p:cNvPr id="62" name="Text 14"/>
          <p:cNvSpPr/>
          <p:nvPr/>
        </p:nvSpPr>
        <p:spPr>
          <a:xfrm>
            <a:off x="419100" y="4076700"/>
            <a:ext cx="5486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화면 이동 흐름 설명</a:t>
            </a:r>
            <a:endParaRPr lang="en-US" sz="1050" dirty="0"/>
          </a:p>
        </p:txBody>
      </p:sp>
      <p:sp>
        <p:nvSpPr>
          <p:cNvPr id="63" name="Text 15"/>
          <p:cNvSpPr/>
          <p:nvPr/>
        </p:nvSpPr>
        <p:spPr>
          <a:xfrm>
            <a:off x="419100" y="43434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</a:t>
            </a:r>
            <a:endParaRPr lang="en-US" sz="900" dirty="0"/>
          </a:p>
        </p:txBody>
      </p:sp>
      <p:sp>
        <p:nvSpPr>
          <p:cNvPr id="64" name="Text 16"/>
          <p:cNvSpPr/>
          <p:nvPr/>
        </p:nvSpPr>
        <p:spPr>
          <a:xfrm>
            <a:off x="600075" y="4343400"/>
            <a:ext cx="62750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로그인/인증 → 메인 대시보드: 사용자는 로그인 후 자신의 감정 상태와 이전 상담 요약이 표시된 대시보드로 이동</a:t>
            </a:r>
            <a:endParaRPr lang="en-US" sz="900" dirty="0"/>
          </a:p>
        </p:txBody>
      </p:sp>
      <p:sp>
        <p:nvSpPr>
          <p:cNvPr id="65" name="Text 17"/>
          <p:cNvSpPr/>
          <p:nvPr/>
        </p:nvSpPr>
        <p:spPr>
          <a:xfrm>
            <a:off x="419100" y="45720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</a:t>
            </a:r>
            <a:endParaRPr lang="en-US" sz="900" dirty="0"/>
          </a:p>
        </p:txBody>
      </p:sp>
      <p:sp>
        <p:nvSpPr>
          <p:cNvPr id="66" name="Text 18"/>
          <p:cNvSpPr/>
          <p:nvPr/>
        </p:nvSpPr>
        <p:spPr>
          <a:xfrm>
            <a:off x="600075" y="4572000"/>
            <a:ext cx="5657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대시보드 → 대화 인터페이스: 사용자는 상담 시작 버튼을 통해 AI 상담사와의 대화 인터페이스로 이동</a:t>
            </a:r>
            <a:endParaRPr lang="en-US" sz="900" dirty="0"/>
          </a:p>
        </p:txBody>
      </p:sp>
      <p:sp>
        <p:nvSpPr>
          <p:cNvPr id="67" name="Text 19"/>
          <p:cNvSpPr/>
          <p:nvPr/>
        </p:nvSpPr>
        <p:spPr>
          <a:xfrm>
            <a:off x="419100" y="48006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</a:t>
            </a:r>
            <a:endParaRPr lang="en-US" sz="900" dirty="0"/>
          </a:p>
        </p:txBody>
      </p:sp>
      <p:sp>
        <p:nvSpPr>
          <p:cNvPr id="68" name="Text 20"/>
          <p:cNvSpPr/>
          <p:nvPr/>
        </p:nvSpPr>
        <p:spPr>
          <a:xfrm>
            <a:off x="600075" y="4800600"/>
            <a:ext cx="55549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중 → 감정 분석: 사용자의 입력을 실시간으로 분석하여 감정 상태를 파악하고 적절한 응답 생성</a:t>
            </a:r>
            <a:endParaRPr lang="en-US" sz="900" dirty="0"/>
          </a:p>
        </p:txBody>
      </p:sp>
      <p:sp>
        <p:nvSpPr>
          <p:cNvPr id="69" name="Text 21"/>
          <p:cNvSpPr/>
          <p:nvPr/>
        </p:nvSpPr>
        <p:spPr>
          <a:xfrm>
            <a:off x="419100" y="50292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</a:t>
            </a:r>
            <a:endParaRPr lang="en-US" sz="900" dirty="0"/>
          </a:p>
        </p:txBody>
      </p:sp>
      <p:sp>
        <p:nvSpPr>
          <p:cNvPr id="70" name="Text 22"/>
          <p:cNvSpPr/>
          <p:nvPr/>
        </p:nvSpPr>
        <p:spPr>
          <a:xfrm>
            <a:off x="600075" y="5029200"/>
            <a:ext cx="48348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→ 상담 결과: 상담 종료 시 대화 요약과 맞춤형 조언이 포함된 결과 화면 제공</a:t>
            </a:r>
            <a:endParaRPr lang="en-US" sz="900" dirty="0"/>
          </a:p>
        </p:txBody>
      </p:sp>
      <p:sp>
        <p:nvSpPr>
          <p:cNvPr id="71" name="Text 23"/>
          <p:cNvSpPr/>
          <p:nvPr/>
        </p:nvSpPr>
        <p:spPr>
          <a:xfrm>
            <a:off x="419100" y="5257800"/>
            <a:ext cx="125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5.</a:t>
            </a:r>
            <a:endParaRPr lang="en-US" sz="900" dirty="0"/>
          </a:p>
        </p:txBody>
      </p:sp>
      <p:sp>
        <p:nvSpPr>
          <p:cNvPr id="72" name="Text 24"/>
          <p:cNvSpPr/>
          <p:nvPr/>
        </p:nvSpPr>
        <p:spPr>
          <a:xfrm>
            <a:off x="600075" y="5257800"/>
            <a:ext cx="5715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결과 → 프로필: 상담 내역과 감정 변화 추이가 사용자 프로필에 저장되어 장기적인 상태 관찰 가능</a:t>
            </a:r>
            <a:endParaRPr lang="en-US" sz="900" dirty="0"/>
          </a:p>
        </p:txBody>
      </p:sp>
      <p:sp>
        <p:nvSpPr>
          <p:cNvPr id="73" name="Text 25"/>
          <p:cNvSpPr/>
          <p:nvPr/>
        </p:nvSpPr>
        <p:spPr>
          <a:xfrm>
            <a:off x="6372225" y="1028700"/>
            <a:ext cx="571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주요 사용자 시나리오</a:t>
            </a:r>
            <a:endParaRPr lang="en-US" sz="1500" dirty="0"/>
          </a:p>
        </p:txBody>
      </p:sp>
      <p:sp>
        <p:nvSpPr>
          <p:cNvPr id="74" name="Text 26"/>
          <p:cNvSpPr/>
          <p:nvPr/>
        </p:nvSpPr>
        <p:spPr>
          <a:xfrm>
            <a:off x="6367463" y="14859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</a:t>
            </a:r>
            <a:endParaRPr lang="en-US" sz="900" dirty="0"/>
          </a:p>
        </p:txBody>
      </p:sp>
      <p:sp>
        <p:nvSpPr>
          <p:cNvPr id="75" name="Text 27"/>
          <p:cNvSpPr/>
          <p:nvPr/>
        </p:nvSpPr>
        <p:spPr>
          <a:xfrm>
            <a:off x="6591300" y="1504950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 스트레스 상담 시나리오</a:t>
            </a:r>
            <a:endParaRPr lang="en-US" sz="1050" dirty="0"/>
          </a:p>
        </p:txBody>
      </p:sp>
      <p:sp>
        <p:nvSpPr>
          <p:cNvPr id="76" name="Text 28"/>
          <p:cNvSpPr/>
          <p:nvPr/>
        </p:nvSpPr>
        <p:spPr>
          <a:xfrm>
            <a:off x="6515100" y="1790700"/>
            <a:ext cx="60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목표:</a:t>
            </a:r>
            <a:endParaRPr lang="en-US" sz="900" dirty="0"/>
          </a:p>
        </p:txBody>
      </p:sp>
      <p:sp>
        <p:nvSpPr>
          <p:cNvPr id="77" name="Text 29"/>
          <p:cNvSpPr/>
          <p:nvPr/>
        </p:nvSpPr>
        <p:spPr>
          <a:xfrm>
            <a:off x="7124700" y="1790700"/>
            <a:ext cx="4648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업무 스트레스 관리 및 직장 내 인간관계 개선</a:t>
            </a:r>
            <a:endParaRPr lang="en-US" sz="900" dirty="0"/>
          </a:p>
        </p:txBody>
      </p:sp>
      <p:sp>
        <p:nvSpPr>
          <p:cNvPr id="78" name="Text 30"/>
          <p:cNvSpPr/>
          <p:nvPr/>
        </p:nvSpPr>
        <p:spPr>
          <a:xfrm>
            <a:off x="6515100" y="1981200"/>
            <a:ext cx="60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사용자:</a:t>
            </a:r>
            <a:endParaRPr lang="en-US" sz="900" dirty="0"/>
          </a:p>
        </p:txBody>
      </p:sp>
      <p:sp>
        <p:nvSpPr>
          <p:cNvPr id="79" name="Text 31"/>
          <p:cNvSpPr/>
          <p:nvPr/>
        </p:nvSpPr>
        <p:spPr>
          <a:xfrm>
            <a:off x="7124700" y="1981200"/>
            <a:ext cx="4648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28세 직장인 김지현(페르소나 1)</a:t>
            </a:r>
            <a:endParaRPr lang="en-US" sz="900" dirty="0"/>
          </a:p>
        </p:txBody>
      </p:sp>
      <p:sp>
        <p:nvSpPr>
          <p:cNvPr id="80" name="Text 32"/>
          <p:cNvSpPr/>
          <p:nvPr/>
        </p:nvSpPr>
        <p:spPr>
          <a:xfrm>
            <a:off x="6743700" y="222885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시작: </a:t>
            </a:r>
            <a:endParaRPr lang="en-US" sz="900" dirty="0"/>
          </a:p>
        </p:txBody>
      </p:sp>
      <p:sp>
        <p:nvSpPr>
          <p:cNvPr id="81" name="Text 33"/>
          <p:cNvSpPr/>
          <p:nvPr/>
        </p:nvSpPr>
        <p:spPr>
          <a:xfrm>
            <a:off x="7258050" y="2228850"/>
            <a:ext cx="40233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퇴근 후 앱에 접속하여 오늘 있었던 상사와의 갈등 상황에 대해 대화 시작</a:t>
            </a:r>
            <a:endParaRPr lang="en-US" sz="900" dirty="0"/>
          </a:p>
        </p:txBody>
      </p:sp>
      <p:sp>
        <p:nvSpPr>
          <p:cNvPr id="82" name="Text 34"/>
          <p:cNvSpPr/>
          <p:nvPr/>
        </p:nvSpPr>
        <p:spPr>
          <a:xfrm>
            <a:off x="6743700" y="243840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인식: </a:t>
            </a:r>
            <a:endParaRPr lang="en-US" sz="900" dirty="0"/>
          </a:p>
        </p:txBody>
      </p:sp>
      <p:sp>
        <p:nvSpPr>
          <p:cNvPr id="83" name="Text 35"/>
          <p:cNvSpPr/>
          <p:nvPr/>
        </p:nvSpPr>
        <p:spPr>
          <a:xfrm>
            <a:off x="7258050" y="2438400"/>
            <a:ext cx="364617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AI가 사용자의 텍스트에서 스트레스와 분노 감정을 감지하고 표시</a:t>
            </a:r>
            <a:endParaRPr lang="en-US" sz="900" dirty="0"/>
          </a:p>
        </p:txBody>
      </p:sp>
      <p:sp>
        <p:nvSpPr>
          <p:cNvPr id="84" name="Text 36"/>
          <p:cNvSpPr/>
          <p:nvPr/>
        </p:nvSpPr>
        <p:spPr>
          <a:xfrm>
            <a:off x="6743700" y="2647950"/>
            <a:ext cx="74295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질문: </a:t>
            </a:r>
            <a:endParaRPr lang="en-US" sz="900" dirty="0"/>
          </a:p>
        </p:txBody>
      </p:sp>
      <p:sp>
        <p:nvSpPr>
          <p:cNvPr id="85" name="Text 37"/>
          <p:cNvSpPr/>
          <p:nvPr/>
        </p:nvSpPr>
        <p:spPr>
          <a:xfrm>
            <a:off x="7362825" y="2647950"/>
            <a:ext cx="395478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상황에 대한 구체적인 감정과 생각을 끌어내는 질문으로 심층 대화 유도</a:t>
            </a:r>
            <a:endParaRPr lang="en-US" sz="900" dirty="0"/>
          </a:p>
        </p:txBody>
      </p:sp>
      <p:sp>
        <p:nvSpPr>
          <p:cNvPr id="86" name="Text 38"/>
          <p:cNvSpPr/>
          <p:nvPr/>
        </p:nvSpPr>
        <p:spPr>
          <a:xfrm>
            <a:off x="6743700" y="2857500"/>
            <a:ext cx="74295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해결책 제시: </a:t>
            </a:r>
            <a:endParaRPr lang="en-US" sz="900" dirty="0"/>
          </a:p>
        </p:txBody>
      </p:sp>
      <p:sp>
        <p:nvSpPr>
          <p:cNvPr id="87" name="Text 39"/>
          <p:cNvSpPr/>
          <p:nvPr/>
        </p:nvSpPr>
        <p:spPr>
          <a:xfrm>
            <a:off x="7362825" y="2857500"/>
            <a:ext cx="40233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 관리 기법 및 직장 내 갈등 해소를 위한 커뮤니케이션 방법 안내</a:t>
            </a:r>
            <a:endParaRPr lang="en-US" sz="900" dirty="0"/>
          </a:p>
        </p:txBody>
      </p:sp>
      <p:sp>
        <p:nvSpPr>
          <p:cNvPr id="88" name="Text 40"/>
          <p:cNvSpPr/>
          <p:nvPr/>
        </p:nvSpPr>
        <p:spPr>
          <a:xfrm>
            <a:off x="6743700" y="306705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366F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세션 종료: </a:t>
            </a:r>
            <a:endParaRPr lang="en-US" sz="900" dirty="0"/>
          </a:p>
        </p:txBody>
      </p:sp>
      <p:sp>
        <p:nvSpPr>
          <p:cNvPr id="89" name="Text 41"/>
          <p:cNvSpPr/>
          <p:nvPr/>
        </p:nvSpPr>
        <p:spPr>
          <a:xfrm>
            <a:off x="7258050" y="3067050"/>
            <a:ext cx="294894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요약 및 내일 실천할 수 있는 구체적인 행동 제안</a:t>
            </a:r>
            <a:endParaRPr lang="en-US" sz="900" dirty="0"/>
          </a:p>
        </p:txBody>
      </p:sp>
      <p:sp>
        <p:nvSpPr>
          <p:cNvPr id="90" name="Text 42"/>
          <p:cNvSpPr/>
          <p:nvPr/>
        </p:nvSpPr>
        <p:spPr>
          <a:xfrm>
            <a:off x="6367463" y="35433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43"/>
          <p:cNvSpPr/>
          <p:nvPr/>
        </p:nvSpPr>
        <p:spPr>
          <a:xfrm>
            <a:off x="6591300" y="3562350"/>
            <a:ext cx="1828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일-가정 균형 찾기 시나리오</a:t>
            </a:r>
            <a:endParaRPr lang="en-US" sz="1050" dirty="0"/>
          </a:p>
        </p:txBody>
      </p:sp>
      <p:sp>
        <p:nvSpPr>
          <p:cNvPr id="92" name="Text 44"/>
          <p:cNvSpPr/>
          <p:nvPr/>
        </p:nvSpPr>
        <p:spPr>
          <a:xfrm>
            <a:off x="6515100" y="3848100"/>
            <a:ext cx="60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목표:</a:t>
            </a:r>
            <a:endParaRPr lang="en-US" sz="900" dirty="0"/>
          </a:p>
        </p:txBody>
      </p:sp>
      <p:sp>
        <p:nvSpPr>
          <p:cNvPr id="93" name="Text 45"/>
          <p:cNvSpPr/>
          <p:nvPr/>
        </p:nvSpPr>
        <p:spPr>
          <a:xfrm>
            <a:off x="7124700" y="3848100"/>
            <a:ext cx="4648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직장과 가정 사이의 균형 유지 및 불안감 해소</a:t>
            </a:r>
            <a:endParaRPr lang="en-US" sz="900" dirty="0"/>
          </a:p>
        </p:txBody>
      </p:sp>
      <p:sp>
        <p:nvSpPr>
          <p:cNvPr id="94" name="Text 46"/>
          <p:cNvSpPr/>
          <p:nvPr/>
        </p:nvSpPr>
        <p:spPr>
          <a:xfrm>
            <a:off x="6515100" y="4038600"/>
            <a:ext cx="60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사용자:</a:t>
            </a:r>
            <a:endParaRPr lang="en-US" sz="900" dirty="0"/>
          </a:p>
        </p:txBody>
      </p:sp>
      <p:sp>
        <p:nvSpPr>
          <p:cNvPr id="95" name="Text 47"/>
          <p:cNvSpPr/>
          <p:nvPr/>
        </p:nvSpPr>
        <p:spPr>
          <a:xfrm>
            <a:off x="7124700" y="4038600"/>
            <a:ext cx="4648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45세 교사 박민수(페르소나 2)</a:t>
            </a:r>
            <a:endParaRPr lang="en-US" sz="900" dirty="0"/>
          </a:p>
        </p:txBody>
      </p:sp>
      <p:sp>
        <p:nvSpPr>
          <p:cNvPr id="96" name="Text 48"/>
          <p:cNvSpPr/>
          <p:nvPr/>
        </p:nvSpPr>
        <p:spPr>
          <a:xfrm>
            <a:off x="6743700" y="428625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일정 확인: </a:t>
            </a:r>
            <a:endParaRPr lang="en-US" sz="900" dirty="0"/>
          </a:p>
        </p:txBody>
      </p:sp>
      <p:sp>
        <p:nvSpPr>
          <p:cNvPr id="97" name="Text 49"/>
          <p:cNvSpPr/>
          <p:nvPr/>
        </p:nvSpPr>
        <p:spPr>
          <a:xfrm>
            <a:off x="7258050" y="4286250"/>
            <a:ext cx="37033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사용자는 업무 및 가족 일정을 시스템에 등록하여 과부하 지점 확인</a:t>
            </a:r>
            <a:endParaRPr lang="en-US" sz="900" dirty="0"/>
          </a:p>
        </p:txBody>
      </p:sp>
      <p:sp>
        <p:nvSpPr>
          <p:cNvPr id="98" name="Text 50"/>
          <p:cNvSpPr/>
          <p:nvPr/>
        </p:nvSpPr>
        <p:spPr>
          <a:xfrm>
            <a:off x="6743700" y="449580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추적: </a:t>
            </a:r>
            <a:endParaRPr lang="en-US" sz="900" dirty="0"/>
          </a:p>
        </p:txBody>
      </p:sp>
      <p:sp>
        <p:nvSpPr>
          <p:cNvPr id="99" name="Text 51"/>
          <p:cNvSpPr/>
          <p:nvPr/>
        </p:nvSpPr>
        <p:spPr>
          <a:xfrm>
            <a:off x="7258050" y="4495800"/>
            <a:ext cx="309753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정기적으로 감정 상태를 기록하고 일정과의 연관성 분석</a:t>
            </a:r>
            <a:endParaRPr lang="en-US" sz="900" dirty="0"/>
          </a:p>
        </p:txBody>
      </p:sp>
      <p:sp>
        <p:nvSpPr>
          <p:cNvPr id="100" name="Text 52"/>
          <p:cNvSpPr/>
          <p:nvPr/>
        </p:nvSpPr>
        <p:spPr>
          <a:xfrm>
            <a:off x="6743700" y="4705350"/>
            <a:ext cx="90297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갈등 상황 토론: </a:t>
            </a:r>
            <a:endParaRPr lang="en-US" sz="900" dirty="0"/>
          </a:p>
        </p:txBody>
      </p:sp>
      <p:sp>
        <p:nvSpPr>
          <p:cNvPr id="101" name="Text 53"/>
          <p:cNvSpPr/>
          <p:nvPr/>
        </p:nvSpPr>
        <p:spPr>
          <a:xfrm>
            <a:off x="7496175" y="4705350"/>
            <a:ext cx="33375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학생 지도와 가족 행사가 겹치는 특정 상황에 대해 AI와 대화</a:t>
            </a:r>
            <a:endParaRPr lang="en-US" sz="900" dirty="0"/>
          </a:p>
        </p:txBody>
      </p:sp>
      <p:sp>
        <p:nvSpPr>
          <p:cNvPr id="102" name="Text 54"/>
          <p:cNvSpPr/>
          <p:nvPr/>
        </p:nvSpPr>
        <p:spPr>
          <a:xfrm>
            <a:off x="6743700" y="4914900"/>
            <a:ext cx="86868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우선순위 설정: </a:t>
            </a:r>
            <a:endParaRPr lang="en-US" sz="900" dirty="0"/>
          </a:p>
        </p:txBody>
      </p:sp>
      <p:sp>
        <p:nvSpPr>
          <p:cNvPr id="103" name="Text 55"/>
          <p:cNvSpPr/>
          <p:nvPr/>
        </p:nvSpPr>
        <p:spPr>
          <a:xfrm>
            <a:off x="7467600" y="4914900"/>
            <a:ext cx="300609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가치 기반 의사결정을 돕는 질문을 통해 우선순위 정리</a:t>
            </a:r>
            <a:endParaRPr lang="en-US" sz="900" dirty="0"/>
          </a:p>
        </p:txBody>
      </p:sp>
      <p:sp>
        <p:nvSpPr>
          <p:cNvPr id="104" name="Text 56"/>
          <p:cNvSpPr/>
          <p:nvPr/>
        </p:nvSpPr>
        <p:spPr>
          <a:xfrm>
            <a:off x="6743700" y="5124450"/>
            <a:ext cx="6172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행동 계획: </a:t>
            </a:r>
            <a:endParaRPr lang="en-US" sz="900" dirty="0"/>
          </a:p>
        </p:txBody>
      </p:sp>
      <p:sp>
        <p:nvSpPr>
          <p:cNvPr id="105" name="Text 57"/>
          <p:cNvSpPr/>
          <p:nvPr/>
        </p:nvSpPr>
        <p:spPr>
          <a:xfrm>
            <a:off x="7258050" y="5124450"/>
            <a:ext cx="345186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균형 잡힌 생활을 위한 주간 계획표와 스트레스 관리 전략 수립</a:t>
            </a:r>
            <a:endParaRPr lang="en-US" sz="900" dirty="0"/>
          </a:p>
        </p:txBody>
      </p:sp>
      <p:sp>
        <p:nvSpPr>
          <p:cNvPr id="106" name="Text 58"/>
          <p:cNvSpPr/>
          <p:nvPr/>
        </p:nvSpPr>
        <p:spPr>
          <a:xfrm>
            <a:off x="6475095" y="5562600"/>
            <a:ext cx="53721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추적</a:t>
            </a:r>
            <a:endParaRPr lang="en-US" sz="900" dirty="0"/>
          </a:p>
        </p:txBody>
      </p:sp>
      <p:sp>
        <p:nvSpPr>
          <p:cNvPr id="107" name="Text 59"/>
          <p:cNvSpPr/>
          <p:nvPr/>
        </p:nvSpPr>
        <p:spPr>
          <a:xfrm>
            <a:off x="6453188" y="5791200"/>
            <a:ext cx="6972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이번 주 감정</a:t>
            </a:r>
            <a:endParaRPr lang="en-US" sz="900" dirty="0"/>
          </a:p>
        </p:txBody>
      </p:sp>
      <p:sp>
        <p:nvSpPr>
          <p:cNvPr id="108" name="Text 60"/>
          <p:cNvSpPr/>
          <p:nvPr/>
        </p:nvSpPr>
        <p:spPr>
          <a:xfrm>
            <a:off x="6400800" y="6134100"/>
            <a:ext cx="822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안정적 개선 중</a:t>
            </a:r>
            <a:endParaRPr lang="en-US" sz="900" dirty="0"/>
          </a:p>
        </p:txBody>
      </p:sp>
      <p:sp>
        <p:nvSpPr>
          <p:cNvPr id="109" name="Text 61"/>
          <p:cNvSpPr/>
          <p:nvPr/>
        </p:nvSpPr>
        <p:spPr>
          <a:xfrm>
            <a:off x="7315200" y="5448300"/>
            <a:ext cx="44577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시나리오 결과</a:t>
            </a:r>
            <a:endParaRPr lang="en-US" sz="900" dirty="0"/>
          </a:p>
        </p:txBody>
      </p:sp>
      <p:sp>
        <p:nvSpPr>
          <p:cNvPr id="110" name="Text 62"/>
          <p:cNvSpPr/>
          <p:nvPr/>
        </p:nvSpPr>
        <p:spPr>
          <a:xfrm>
            <a:off x="7315200" y="5638800"/>
            <a:ext cx="4457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사용자는 감정 추적과 맞춤형 조언을 통해 일과 가정의 균형을 점차 찾아가고, 우선순위 설정을 통해 불필요한 스트레스 요인을 줄이며 자기 효능감 향상.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71500"/>
            <a:ext cx="609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85825"/>
            <a:ext cx="133350" cy="171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181100"/>
            <a:ext cx="5810250" cy="2743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257300"/>
            <a:ext cx="2790825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3335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863" y="1371600"/>
            <a:ext cx="142875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196215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1825" y="1257300"/>
            <a:ext cx="2790825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8025" y="13335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5175" y="13716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48025" y="196215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2247900"/>
            <a:ext cx="2790825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23241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913" y="2362200"/>
            <a:ext cx="104775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295275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71825" y="2247900"/>
            <a:ext cx="2790825" cy="914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48025" y="232410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05175" y="2362200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48025" y="295275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800" y="3238500"/>
            <a:ext cx="565785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3467100"/>
            <a:ext cx="1101030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3930" y="3467100"/>
            <a:ext cx="110103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83061" y="3467100"/>
            <a:ext cx="1101179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22340" y="3467100"/>
            <a:ext cx="110103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61471" y="3467100"/>
            <a:ext cx="1101030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8600" y="4000500"/>
            <a:ext cx="5810250" cy="24574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4800" y="4267200"/>
            <a:ext cx="5657850" cy="552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4800" y="4857750"/>
            <a:ext cx="5657850" cy="5524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4800" y="5448300"/>
            <a:ext cx="5657850" cy="5524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4800" y="6038850"/>
            <a:ext cx="5657850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53150" y="885825"/>
            <a:ext cx="171450" cy="1714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53150" y="1181100"/>
            <a:ext cx="5810250" cy="1866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9350" y="1257300"/>
            <a:ext cx="2809875" cy="838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05550" y="1352550"/>
            <a:ext cx="133350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05550" y="1543050"/>
            <a:ext cx="114300" cy="114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05550" y="1714500"/>
            <a:ext cx="114300" cy="1143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05550" y="1885950"/>
            <a:ext cx="114300" cy="1143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077325" y="1257300"/>
            <a:ext cx="2809875" cy="8382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153525" y="1352550"/>
            <a:ext cx="114300" cy="114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53525" y="1543050"/>
            <a:ext cx="114300" cy="114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53525" y="1714500"/>
            <a:ext cx="114300" cy="1143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53525" y="1885950"/>
            <a:ext cx="114300" cy="1143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29350" y="2133600"/>
            <a:ext cx="2809875" cy="8382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305550" y="2228850"/>
            <a:ext cx="1143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5550" y="2419350"/>
            <a:ext cx="114300" cy="1143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5550" y="2590800"/>
            <a:ext cx="114300" cy="1143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5550" y="2762250"/>
            <a:ext cx="114300" cy="1143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077325" y="2133600"/>
            <a:ext cx="2809875" cy="8382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153525" y="2228850"/>
            <a:ext cx="133350" cy="1143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53525" y="2419350"/>
            <a:ext cx="114300" cy="1143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53525" y="2590800"/>
            <a:ext cx="114300" cy="1143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153525" y="2762250"/>
            <a:ext cx="114300" cy="1143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153150" y="3124200"/>
            <a:ext cx="2867025" cy="13335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29350" y="3390900"/>
            <a:ext cx="190500" cy="1905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29350" y="3733800"/>
            <a:ext cx="190500" cy="1905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29350" y="4076700"/>
            <a:ext cx="190500" cy="1905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096375" y="3124200"/>
            <a:ext cx="2867025" cy="13335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172575" y="3390900"/>
            <a:ext cx="171450" cy="1524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172575" y="3733800"/>
            <a:ext cx="114300" cy="1524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72575" y="4076700"/>
            <a:ext cx="171450" cy="1524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153150" y="4533900"/>
            <a:ext cx="5810250" cy="89535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229350" y="4800600"/>
            <a:ext cx="1860500" cy="55245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127950" y="4800600"/>
            <a:ext cx="1860500" cy="552450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26551" y="4800600"/>
            <a:ext cx="1860500" cy="552450"/>
          </a:xfrm>
          <a:prstGeom prst="rect">
            <a:avLst/>
          </a:prstGeom>
        </p:spPr>
      </p:pic>
      <p:sp>
        <p:nvSpPr>
          <p:cNvPr id="67" name="Text 0"/>
          <p:cNvSpPr/>
          <p:nvPr/>
        </p:nvSpPr>
        <p:spPr>
          <a:xfrm>
            <a:off x="228600" y="228600"/>
            <a:ext cx="1173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사용성 테스트 계획</a:t>
            </a:r>
            <a:endParaRPr lang="en-US" sz="1800" dirty="0"/>
          </a:p>
        </p:txBody>
      </p:sp>
      <p:sp>
        <p:nvSpPr>
          <p:cNvPr id="68" name="Text 1"/>
          <p:cNvSpPr/>
          <p:nvPr/>
        </p:nvSpPr>
        <p:spPr>
          <a:xfrm>
            <a:off x="228600" y="609600"/>
            <a:ext cx="1173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테스트 방법 및 지표 (12/13)</a:t>
            </a:r>
            <a:endParaRPr lang="en-US" sz="900" dirty="0"/>
          </a:p>
        </p:txBody>
      </p:sp>
      <p:sp>
        <p:nvSpPr>
          <p:cNvPr id="69" name="Text 2"/>
          <p:cNvSpPr/>
          <p:nvPr/>
        </p:nvSpPr>
        <p:spPr>
          <a:xfrm>
            <a:off x="438150" y="838200"/>
            <a:ext cx="5810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테스트 방법론</a:t>
            </a:r>
            <a:endParaRPr lang="en-US" sz="1350" dirty="0"/>
          </a:p>
        </p:txBody>
      </p:sp>
      <p:sp>
        <p:nvSpPr>
          <p:cNvPr id="70" name="Text 3"/>
          <p:cNvSpPr/>
          <p:nvPr/>
        </p:nvSpPr>
        <p:spPr>
          <a:xfrm>
            <a:off x="647700" y="1371600"/>
            <a:ext cx="7886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테스트</a:t>
            </a:r>
            <a:endParaRPr lang="en-US" sz="900" dirty="0"/>
          </a:p>
        </p:txBody>
      </p:sp>
      <p:sp>
        <p:nvSpPr>
          <p:cNvPr id="71" name="Text 4"/>
          <p:cNvSpPr/>
          <p:nvPr/>
        </p:nvSpPr>
        <p:spPr>
          <a:xfrm>
            <a:off x="381000" y="160020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실제 사용자들이 직접 시스템을 사용하며 과제 수행. 대화 인터페이스와 감정 인식 기능에 대한 사용성 평가</a:t>
            </a:r>
            <a:endParaRPr lang="en-US" sz="900" dirty="0"/>
          </a:p>
        </p:txBody>
      </p:sp>
      <p:sp>
        <p:nvSpPr>
          <p:cNvPr id="72" name="Text 5"/>
          <p:cNvSpPr/>
          <p:nvPr/>
        </p:nvSpPr>
        <p:spPr>
          <a:xfrm>
            <a:off x="533400" y="1943100"/>
            <a:ext cx="17602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20-50대 사용자 그룹별 10명씩</a:t>
            </a:r>
            <a:endParaRPr lang="en-US" sz="900" dirty="0"/>
          </a:p>
        </p:txBody>
      </p:sp>
      <p:sp>
        <p:nvSpPr>
          <p:cNvPr id="73" name="Text 6"/>
          <p:cNvSpPr/>
          <p:nvPr/>
        </p:nvSpPr>
        <p:spPr>
          <a:xfrm>
            <a:off x="3514725" y="1371600"/>
            <a:ext cx="6629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전문가 평가</a:t>
            </a:r>
            <a:endParaRPr lang="en-US" sz="900" dirty="0"/>
          </a:p>
        </p:txBody>
      </p:sp>
      <p:sp>
        <p:nvSpPr>
          <p:cNvPr id="74" name="Text 7"/>
          <p:cNvSpPr/>
          <p:nvPr/>
        </p:nvSpPr>
        <p:spPr>
          <a:xfrm>
            <a:off x="3248025" y="160020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UI/UX 전문가와 심리상담 전문가가 인터페이스와 상담 접근 방식을 검토. 휴리스틱 평가 적용</a:t>
            </a:r>
            <a:endParaRPr lang="en-US" sz="900" dirty="0"/>
          </a:p>
        </p:txBody>
      </p:sp>
      <p:sp>
        <p:nvSpPr>
          <p:cNvPr id="75" name="Text 8"/>
          <p:cNvSpPr/>
          <p:nvPr/>
        </p:nvSpPr>
        <p:spPr>
          <a:xfrm>
            <a:off x="3400425" y="1943100"/>
            <a:ext cx="17945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UX 전문가 5명, 심리상담사 3명</a:t>
            </a:r>
            <a:endParaRPr lang="en-US" sz="900" dirty="0"/>
          </a:p>
        </p:txBody>
      </p:sp>
      <p:sp>
        <p:nvSpPr>
          <p:cNvPr id="76" name="Text 9"/>
          <p:cNvSpPr/>
          <p:nvPr/>
        </p:nvSpPr>
        <p:spPr>
          <a:xfrm>
            <a:off x="647700" y="2362200"/>
            <a:ext cx="6515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A/B 테스트</a:t>
            </a:r>
            <a:endParaRPr lang="en-US" sz="900" dirty="0"/>
          </a:p>
        </p:txBody>
      </p:sp>
      <p:sp>
        <p:nvSpPr>
          <p:cNvPr id="77" name="Text 10"/>
          <p:cNvSpPr/>
          <p:nvPr/>
        </p:nvSpPr>
        <p:spPr>
          <a:xfrm>
            <a:off x="381000" y="259080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 UI 디자인과 상호작용 패턴을 비교 테스트하여 최적의 대화 방식과 감정 피드백 UI 발견</a:t>
            </a:r>
            <a:endParaRPr lang="en-US" sz="900" dirty="0"/>
          </a:p>
        </p:txBody>
      </p:sp>
      <p:sp>
        <p:nvSpPr>
          <p:cNvPr id="78" name="Text 11"/>
          <p:cNvSpPr/>
          <p:nvPr/>
        </p:nvSpPr>
        <p:spPr>
          <a:xfrm>
            <a:off x="533400" y="2933700"/>
            <a:ext cx="16344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베타 테스터 그룹 100명 대상</a:t>
            </a:r>
            <a:endParaRPr lang="en-US" sz="900" dirty="0"/>
          </a:p>
        </p:txBody>
      </p:sp>
      <p:sp>
        <p:nvSpPr>
          <p:cNvPr id="79" name="Text 12"/>
          <p:cNvSpPr/>
          <p:nvPr/>
        </p:nvSpPr>
        <p:spPr>
          <a:xfrm>
            <a:off x="3514725" y="2362200"/>
            <a:ext cx="537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종단 연구</a:t>
            </a:r>
            <a:endParaRPr lang="en-US" sz="900" dirty="0"/>
          </a:p>
        </p:txBody>
      </p:sp>
      <p:sp>
        <p:nvSpPr>
          <p:cNvPr id="80" name="Text 13"/>
          <p:cNvSpPr/>
          <p:nvPr/>
        </p:nvSpPr>
        <p:spPr>
          <a:xfrm>
            <a:off x="3248025" y="259080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장기간(4주) 시스템 사용을 통해 적응도, 지속적 활용도, 그리고 실제 감정 상태 개선 효과 측정</a:t>
            </a:r>
            <a:endParaRPr lang="en-US" sz="900" dirty="0"/>
          </a:p>
        </p:txBody>
      </p:sp>
      <p:sp>
        <p:nvSpPr>
          <p:cNvPr id="81" name="Text 14"/>
          <p:cNvSpPr/>
          <p:nvPr/>
        </p:nvSpPr>
        <p:spPr>
          <a:xfrm>
            <a:off x="3400425" y="2933700"/>
            <a:ext cx="16802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1620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스트레스 관리 필요 그룹 30명</a:t>
            </a:r>
            <a:endParaRPr lang="en-US" sz="900" dirty="0"/>
          </a:p>
        </p:txBody>
      </p:sp>
      <p:sp>
        <p:nvSpPr>
          <p:cNvPr id="82" name="Text 15"/>
          <p:cNvSpPr/>
          <p:nvPr/>
        </p:nvSpPr>
        <p:spPr>
          <a:xfrm>
            <a:off x="304800" y="3276600"/>
            <a:ext cx="5657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테스트 프로세스</a:t>
            </a:r>
            <a:endParaRPr lang="en-US" sz="900" dirty="0"/>
          </a:p>
        </p:txBody>
      </p:sp>
      <p:sp>
        <p:nvSpPr>
          <p:cNvPr id="83" name="Text 16"/>
          <p:cNvSpPr/>
          <p:nvPr/>
        </p:nvSpPr>
        <p:spPr>
          <a:xfrm>
            <a:off x="304800" y="3467100"/>
            <a:ext cx="1101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1단계</a:t>
            </a:r>
            <a:endParaRPr lang="en-US" sz="900" dirty="0"/>
          </a:p>
        </p:txBody>
      </p:sp>
      <p:sp>
        <p:nvSpPr>
          <p:cNvPr id="84" name="Text 17"/>
          <p:cNvSpPr/>
          <p:nvPr/>
        </p:nvSpPr>
        <p:spPr>
          <a:xfrm>
            <a:off x="304800" y="3695700"/>
            <a:ext cx="132123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사전 준비 및 계획 수립</a:t>
            </a:r>
            <a:endParaRPr lang="en-US" sz="900" dirty="0"/>
          </a:p>
        </p:txBody>
      </p:sp>
      <p:sp>
        <p:nvSpPr>
          <p:cNvPr id="85" name="Text 18"/>
          <p:cNvSpPr/>
          <p:nvPr/>
        </p:nvSpPr>
        <p:spPr>
          <a:xfrm>
            <a:off x="1443930" y="3467100"/>
            <a:ext cx="1101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2단계</a:t>
            </a:r>
            <a:endParaRPr lang="en-US" sz="900" dirty="0"/>
          </a:p>
        </p:txBody>
      </p:sp>
      <p:sp>
        <p:nvSpPr>
          <p:cNvPr id="86" name="Text 19"/>
          <p:cNvSpPr/>
          <p:nvPr/>
        </p:nvSpPr>
        <p:spPr>
          <a:xfrm>
            <a:off x="1443930" y="3695700"/>
            <a:ext cx="11010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파일럿 테스트</a:t>
            </a:r>
            <a:endParaRPr lang="en-US" sz="900" dirty="0"/>
          </a:p>
        </p:txBody>
      </p:sp>
      <p:sp>
        <p:nvSpPr>
          <p:cNvPr id="87" name="Text 20"/>
          <p:cNvSpPr/>
          <p:nvPr/>
        </p:nvSpPr>
        <p:spPr>
          <a:xfrm>
            <a:off x="2583061" y="3467100"/>
            <a:ext cx="11011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3단계</a:t>
            </a:r>
            <a:endParaRPr lang="en-US" sz="900" dirty="0"/>
          </a:p>
        </p:txBody>
      </p:sp>
      <p:sp>
        <p:nvSpPr>
          <p:cNvPr id="88" name="Text 21"/>
          <p:cNvSpPr/>
          <p:nvPr/>
        </p:nvSpPr>
        <p:spPr>
          <a:xfrm>
            <a:off x="2583061" y="3695700"/>
            <a:ext cx="11011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본 테스트 실시</a:t>
            </a:r>
            <a:endParaRPr lang="en-US" sz="900" dirty="0"/>
          </a:p>
        </p:txBody>
      </p:sp>
      <p:sp>
        <p:nvSpPr>
          <p:cNvPr id="89" name="Text 22"/>
          <p:cNvSpPr/>
          <p:nvPr/>
        </p:nvSpPr>
        <p:spPr>
          <a:xfrm>
            <a:off x="3722340" y="3467100"/>
            <a:ext cx="1101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4단계</a:t>
            </a:r>
            <a:endParaRPr lang="en-US" sz="900" dirty="0"/>
          </a:p>
        </p:txBody>
      </p:sp>
      <p:sp>
        <p:nvSpPr>
          <p:cNvPr id="90" name="Text 23"/>
          <p:cNvSpPr/>
          <p:nvPr/>
        </p:nvSpPr>
        <p:spPr>
          <a:xfrm>
            <a:off x="3722340" y="3695700"/>
            <a:ext cx="11010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분석</a:t>
            </a:r>
            <a:endParaRPr lang="en-US" sz="900" dirty="0"/>
          </a:p>
        </p:txBody>
      </p:sp>
      <p:sp>
        <p:nvSpPr>
          <p:cNvPr id="91" name="Text 24"/>
          <p:cNvSpPr/>
          <p:nvPr/>
        </p:nvSpPr>
        <p:spPr>
          <a:xfrm>
            <a:off x="4861471" y="3467100"/>
            <a:ext cx="1101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5단계</a:t>
            </a:r>
            <a:endParaRPr lang="en-US" sz="900" dirty="0"/>
          </a:p>
        </p:txBody>
      </p:sp>
      <p:sp>
        <p:nvSpPr>
          <p:cNvPr id="92" name="Text 25"/>
          <p:cNvSpPr/>
          <p:nvPr/>
        </p:nvSpPr>
        <p:spPr>
          <a:xfrm>
            <a:off x="4861471" y="3695700"/>
            <a:ext cx="11010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결과 반영</a:t>
            </a:r>
            <a:endParaRPr lang="en-US" sz="900" dirty="0"/>
          </a:p>
        </p:txBody>
      </p:sp>
      <p:sp>
        <p:nvSpPr>
          <p:cNvPr id="93" name="Text 26"/>
          <p:cNvSpPr/>
          <p:nvPr/>
        </p:nvSpPr>
        <p:spPr>
          <a:xfrm>
            <a:off x="304800" y="4076700"/>
            <a:ext cx="5657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테스트 시나리오</a:t>
            </a:r>
            <a:endParaRPr lang="en-US" sz="900" dirty="0"/>
          </a:p>
        </p:txBody>
      </p:sp>
      <p:sp>
        <p:nvSpPr>
          <p:cNvPr id="94" name="Text 27"/>
          <p:cNvSpPr/>
          <p:nvPr/>
        </p:nvSpPr>
        <p:spPr>
          <a:xfrm>
            <a:off x="342900" y="4305300"/>
            <a:ext cx="5581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시나리오 1: 초기 감정 상태 평가</a:t>
            </a:r>
            <a:endParaRPr lang="en-US" sz="900" dirty="0"/>
          </a:p>
        </p:txBody>
      </p:sp>
      <p:sp>
        <p:nvSpPr>
          <p:cNvPr id="95" name="Text 28"/>
          <p:cNvSpPr/>
          <p:nvPr/>
        </p:nvSpPr>
        <p:spPr>
          <a:xfrm>
            <a:off x="342900" y="4457700"/>
            <a:ext cx="66979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사용자가 시스템에 처음 접속하여 감정 상태를 파악하는 초기 대화 진행 테스트</a:t>
            </a:r>
            <a:endParaRPr lang="en-US" sz="900" dirty="0"/>
          </a:p>
        </p:txBody>
      </p:sp>
      <p:sp>
        <p:nvSpPr>
          <p:cNvPr id="96" name="Text 29"/>
          <p:cNvSpPr/>
          <p:nvPr/>
        </p:nvSpPr>
        <p:spPr>
          <a:xfrm>
            <a:off x="342900" y="4629150"/>
            <a:ext cx="18630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중점: 대화 자연스러움, 감정 인식</a:t>
            </a:r>
            <a:endParaRPr lang="en-US" sz="900" dirty="0"/>
          </a:p>
        </p:txBody>
      </p:sp>
      <p:sp>
        <p:nvSpPr>
          <p:cNvPr id="97" name="Text 30"/>
          <p:cNvSpPr/>
          <p:nvPr/>
        </p:nvSpPr>
        <p:spPr>
          <a:xfrm>
            <a:off x="5343525" y="4629150"/>
            <a:ext cx="6972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소요: 약 5분</a:t>
            </a:r>
            <a:endParaRPr lang="en-US" sz="900" dirty="0"/>
          </a:p>
        </p:txBody>
      </p:sp>
      <p:sp>
        <p:nvSpPr>
          <p:cNvPr id="98" name="Text 31"/>
          <p:cNvSpPr/>
          <p:nvPr/>
        </p:nvSpPr>
        <p:spPr>
          <a:xfrm>
            <a:off x="342900" y="4895850"/>
            <a:ext cx="5581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시나리오 2: 스트레스 관리 세션</a:t>
            </a:r>
            <a:endParaRPr lang="en-US" sz="900" dirty="0"/>
          </a:p>
        </p:txBody>
      </p:sp>
      <p:sp>
        <p:nvSpPr>
          <p:cNvPr id="99" name="Text 32"/>
          <p:cNvSpPr/>
          <p:nvPr/>
        </p:nvSpPr>
        <p:spPr>
          <a:xfrm>
            <a:off x="342900" y="5048250"/>
            <a:ext cx="66979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직장 스트레스 상황을 제시하고, 사용자가 AI와 대화하며 해결책을 모색하는 과정 테스트</a:t>
            </a:r>
            <a:endParaRPr lang="en-US" sz="900" dirty="0"/>
          </a:p>
        </p:txBody>
      </p:sp>
      <p:sp>
        <p:nvSpPr>
          <p:cNvPr id="100" name="Text 33"/>
          <p:cNvSpPr/>
          <p:nvPr/>
        </p:nvSpPr>
        <p:spPr>
          <a:xfrm>
            <a:off x="342900" y="5219700"/>
            <a:ext cx="18630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중점: 응답 관련성, 사용자 만족도</a:t>
            </a:r>
            <a:endParaRPr lang="en-US" sz="900" dirty="0"/>
          </a:p>
        </p:txBody>
      </p:sp>
      <p:sp>
        <p:nvSpPr>
          <p:cNvPr id="101" name="Text 34"/>
          <p:cNvSpPr/>
          <p:nvPr/>
        </p:nvSpPr>
        <p:spPr>
          <a:xfrm>
            <a:off x="5276850" y="5219700"/>
            <a:ext cx="7772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소요: 약 10분</a:t>
            </a:r>
            <a:endParaRPr lang="en-US" sz="900" dirty="0"/>
          </a:p>
        </p:txBody>
      </p:sp>
      <p:sp>
        <p:nvSpPr>
          <p:cNvPr id="102" name="Text 35"/>
          <p:cNvSpPr/>
          <p:nvPr/>
        </p:nvSpPr>
        <p:spPr>
          <a:xfrm>
            <a:off x="342900" y="5486400"/>
            <a:ext cx="5581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E22C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시나리오 3: 감정 변화 추적</a:t>
            </a:r>
            <a:endParaRPr lang="en-US" sz="900" dirty="0"/>
          </a:p>
        </p:txBody>
      </p:sp>
      <p:sp>
        <p:nvSpPr>
          <p:cNvPr id="103" name="Text 36"/>
          <p:cNvSpPr/>
          <p:nvPr/>
        </p:nvSpPr>
        <p:spPr>
          <a:xfrm>
            <a:off x="342900" y="5638800"/>
            <a:ext cx="66979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여러 상담 세션 후, 사용자가 감정 상태 변화와 진행 상황을 확인하는 기능 테스트</a:t>
            </a:r>
            <a:endParaRPr lang="en-US" sz="900" dirty="0"/>
          </a:p>
        </p:txBody>
      </p:sp>
      <p:sp>
        <p:nvSpPr>
          <p:cNvPr id="104" name="Text 37"/>
          <p:cNvSpPr/>
          <p:nvPr/>
        </p:nvSpPr>
        <p:spPr>
          <a:xfrm>
            <a:off x="342900" y="5810250"/>
            <a:ext cx="1737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중점: 정보 가시성, 통찰 유용성</a:t>
            </a:r>
            <a:endParaRPr lang="en-US" sz="900" dirty="0"/>
          </a:p>
        </p:txBody>
      </p:sp>
      <p:sp>
        <p:nvSpPr>
          <p:cNvPr id="105" name="Text 38"/>
          <p:cNvSpPr/>
          <p:nvPr/>
        </p:nvSpPr>
        <p:spPr>
          <a:xfrm>
            <a:off x="5343525" y="5810250"/>
            <a:ext cx="6972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소요: 약 7분</a:t>
            </a:r>
            <a:endParaRPr lang="en-US" sz="900" dirty="0"/>
          </a:p>
        </p:txBody>
      </p:sp>
      <p:sp>
        <p:nvSpPr>
          <p:cNvPr id="106" name="Text 39"/>
          <p:cNvSpPr/>
          <p:nvPr/>
        </p:nvSpPr>
        <p:spPr>
          <a:xfrm>
            <a:off x="213360" y="607695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1단계: 전문가 평가</a:t>
            </a:r>
            <a:endParaRPr lang="en-US" sz="900" dirty="0"/>
          </a:p>
        </p:txBody>
      </p:sp>
      <p:sp>
        <p:nvSpPr>
          <p:cNvPr id="107" name="Text 40"/>
          <p:cNvSpPr/>
          <p:nvPr/>
        </p:nvSpPr>
        <p:spPr>
          <a:xfrm>
            <a:off x="213360" y="622935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2023년 1월 1~2주</a:t>
            </a:r>
            <a:endParaRPr lang="en-US" sz="900" dirty="0"/>
          </a:p>
        </p:txBody>
      </p:sp>
      <p:sp>
        <p:nvSpPr>
          <p:cNvPr id="108" name="Text 41"/>
          <p:cNvSpPr/>
          <p:nvPr/>
        </p:nvSpPr>
        <p:spPr>
          <a:xfrm>
            <a:off x="2536508" y="6076950"/>
            <a:ext cx="12230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2단계: 사용자 테스트</a:t>
            </a:r>
            <a:endParaRPr lang="en-US" sz="900" dirty="0"/>
          </a:p>
        </p:txBody>
      </p:sp>
      <p:sp>
        <p:nvSpPr>
          <p:cNvPr id="109" name="Text 42"/>
          <p:cNvSpPr/>
          <p:nvPr/>
        </p:nvSpPr>
        <p:spPr>
          <a:xfrm>
            <a:off x="2536508" y="6229350"/>
            <a:ext cx="12230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2023년 1월 3주~2월</a:t>
            </a:r>
            <a:endParaRPr lang="en-US" sz="900" dirty="0"/>
          </a:p>
        </p:txBody>
      </p:sp>
      <p:sp>
        <p:nvSpPr>
          <p:cNvPr id="110" name="Text 43"/>
          <p:cNvSpPr/>
          <p:nvPr/>
        </p:nvSpPr>
        <p:spPr>
          <a:xfrm>
            <a:off x="4988243" y="6076950"/>
            <a:ext cx="10629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3단계: A/B 테스트</a:t>
            </a:r>
            <a:endParaRPr lang="en-US" sz="900" dirty="0"/>
          </a:p>
        </p:txBody>
      </p:sp>
      <p:sp>
        <p:nvSpPr>
          <p:cNvPr id="111" name="Text 44"/>
          <p:cNvSpPr/>
          <p:nvPr/>
        </p:nvSpPr>
        <p:spPr>
          <a:xfrm>
            <a:off x="4988243" y="6229350"/>
            <a:ext cx="10629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2023년 2월</a:t>
            </a:r>
            <a:endParaRPr lang="en-US" sz="900" dirty="0"/>
          </a:p>
        </p:txBody>
      </p:sp>
      <p:sp>
        <p:nvSpPr>
          <p:cNvPr id="112" name="Text 45"/>
          <p:cNvSpPr/>
          <p:nvPr/>
        </p:nvSpPr>
        <p:spPr>
          <a:xfrm>
            <a:off x="6400800" y="838200"/>
            <a:ext cx="5810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사용성 평가 지표</a:t>
            </a:r>
            <a:endParaRPr lang="en-US" sz="1350" dirty="0"/>
          </a:p>
        </p:txBody>
      </p:sp>
      <p:sp>
        <p:nvSpPr>
          <p:cNvPr id="113" name="Text 46"/>
          <p:cNvSpPr/>
          <p:nvPr/>
        </p:nvSpPr>
        <p:spPr>
          <a:xfrm>
            <a:off x="6477000" y="1333500"/>
            <a:ext cx="26574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효율성 지표</a:t>
            </a:r>
            <a:endParaRPr lang="en-US" sz="900" dirty="0"/>
          </a:p>
        </p:txBody>
      </p:sp>
      <p:sp>
        <p:nvSpPr>
          <p:cNvPr id="114" name="Text 47"/>
          <p:cNvSpPr/>
          <p:nvPr/>
        </p:nvSpPr>
        <p:spPr>
          <a:xfrm>
            <a:off x="6457950" y="1524000"/>
            <a:ext cx="22631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작업 완료 시간: 주요 시나리오 수행 시간</a:t>
            </a:r>
            <a:endParaRPr lang="en-US" sz="900" dirty="0"/>
          </a:p>
        </p:txBody>
      </p:sp>
      <p:sp>
        <p:nvSpPr>
          <p:cNvPr id="115" name="Text 48"/>
          <p:cNvSpPr/>
          <p:nvPr/>
        </p:nvSpPr>
        <p:spPr>
          <a:xfrm>
            <a:off x="6457950" y="1695450"/>
            <a:ext cx="2537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클릭/터치 수: 목표 달성까지 필요한 상호작용</a:t>
            </a:r>
            <a:endParaRPr lang="en-US" sz="900" dirty="0"/>
          </a:p>
        </p:txBody>
      </p:sp>
      <p:sp>
        <p:nvSpPr>
          <p:cNvPr id="116" name="Text 49"/>
          <p:cNvSpPr/>
          <p:nvPr/>
        </p:nvSpPr>
        <p:spPr>
          <a:xfrm>
            <a:off x="6457950" y="1866900"/>
            <a:ext cx="19773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오류 발생률: 사용자 경험 오류 비율</a:t>
            </a:r>
            <a:endParaRPr lang="en-US" sz="900" dirty="0"/>
          </a:p>
        </p:txBody>
      </p:sp>
      <p:sp>
        <p:nvSpPr>
          <p:cNvPr id="117" name="Text 50"/>
          <p:cNvSpPr/>
          <p:nvPr/>
        </p:nvSpPr>
        <p:spPr>
          <a:xfrm>
            <a:off x="9305925" y="1333500"/>
            <a:ext cx="26574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효과성 지표</a:t>
            </a:r>
            <a:endParaRPr lang="en-US" sz="900" dirty="0"/>
          </a:p>
        </p:txBody>
      </p:sp>
      <p:sp>
        <p:nvSpPr>
          <p:cNvPr id="118" name="Text 51"/>
          <p:cNvSpPr/>
          <p:nvPr/>
        </p:nvSpPr>
        <p:spPr>
          <a:xfrm>
            <a:off x="9305925" y="1524000"/>
            <a:ext cx="15659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작업 성공률: 과제 완료 비율</a:t>
            </a:r>
            <a:endParaRPr lang="en-US" sz="900" dirty="0"/>
          </a:p>
        </p:txBody>
      </p:sp>
      <p:sp>
        <p:nvSpPr>
          <p:cNvPr id="119" name="Text 52"/>
          <p:cNvSpPr/>
          <p:nvPr/>
        </p:nvSpPr>
        <p:spPr>
          <a:xfrm>
            <a:off x="9305925" y="1695450"/>
            <a:ext cx="19773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인식 정확도: 감정 파악 정확도</a:t>
            </a:r>
            <a:endParaRPr lang="en-US" sz="900" dirty="0"/>
          </a:p>
        </p:txBody>
      </p:sp>
      <p:sp>
        <p:nvSpPr>
          <p:cNvPr id="120" name="Text 53"/>
          <p:cNvSpPr/>
          <p:nvPr/>
        </p:nvSpPr>
        <p:spPr>
          <a:xfrm>
            <a:off x="9305925" y="1866900"/>
            <a:ext cx="19431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상담 관련성: 제공된 조언의 적합도</a:t>
            </a:r>
            <a:endParaRPr lang="en-US" sz="900" dirty="0"/>
          </a:p>
        </p:txBody>
      </p:sp>
      <p:sp>
        <p:nvSpPr>
          <p:cNvPr id="121" name="Text 54"/>
          <p:cNvSpPr/>
          <p:nvPr/>
        </p:nvSpPr>
        <p:spPr>
          <a:xfrm>
            <a:off x="6457950" y="2209800"/>
            <a:ext cx="26574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만족도 지표</a:t>
            </a:r>
            <a:endParaRPr lang="en-US" sz="900" dirty="0"/>
          </a:p>
        </p:txBody>
      </p:sp>
      <p:sp>
        <p:nvSpPr>
          <p:cNvPr id="122" name="Text 55"/>
          <p:cNvSpPr/>
          <p:nvPr/>
        </p:nvSpPr>
        <p:spPr>
          <a:xfrm>
            <a:off x="6457950" y="2400300"/>
            <a:ext cx="19545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SUS 점수: 표준화된 사용성 만족도</a:t>
            </a:r>
            <a:endParaRPr lang="en-US" sz="900" dirty="0"/>
          </a:p>
        </p:txBody>
      </p:sp>
      <p:sp>
        <p:nvSpPr>
          <p:cNvPr id="123" name="Text 56"/>
          <p:cNvSpPr/>
          <p:nvPr/>
        </p:nvSpPr>
        <p:spPr>
          <a:xfrm>
            <a:off x="6457950" y="2571750"/>
            <a:ext cx="14516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NPS: 추천 의향 측정 지수</a:t>
            </a:r>
            <a:endParaRPr lang="en-US" sz="900" dirty="0"/>
          </a:p>
        </p:txBody>
      </p:sp>
      <p:sp>
        <p:nvSpPr>
          <p:cNvPr id="124" name="Text 57"/>
          <p:cNvSpPr/>
          <p:nvPr/>
        </p:nvSpPr>
        <p:spPr>
          <a:xfrm>
            <a:off x="6457950" y="2743200"/>
            <a:ext cx="17259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감정적 반응: 사용 중 감정 상태</a:t>
            </a:r>
            <a:endParaRPr lang="en-US" sz="900" dirty="0"/>
          </a:p>
        </p:txBody>
      </p:sp>
      <p:sp>
        <p:nvSpPr>
          <p:cNvPr id="125" name="Text 58"/>
          <p:cNvSpPr/>
          <p:nvPr/>
        </p:nvSpPr>
        <p:spPr>
          <a:xfrm>
            <a:off x="9324975" y="2209800"/>
            <a:ext cx="26574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효과 측정 지표</a:t>
            </a:r>
            <a:endParaRPr lang="en-US" sz="900" dirty="0"/>
          </a:p>
        </p:txBody>
      </p:sp>
      <p:sp>
        <p:nvSpPr>
          <p:cNvPr id="126" name="Text 59"/>
          <p:cNvSpPr/>
          <p:nvPr/>
        </p:nvSpPr>
        <p:spPr>
          <a:xfrm>
            <a:off x="9305925" y="2400300"/>
            <a:ext cx="18516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상태 변화: 사용 전후 개선도</a:t>
            </a:r>
            <a:endParaRPr lang="en-US" sz="900" dirty="0"/>
          </a:p>
        </p:txBody>
      </p:sp>
      <p:sp>
        <p:nvSpPr>
          <p:cNvPr id="127" name="Text 60"/>
          <p:cNvSpPr/>
          <p:nvPr/>
        </p:nvSpPr>
        <p:spPr>
          <a:xfrm>
            <a:off x="9305925" y="2571750"/>
            <a:ext cx="19316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지속 사용률: 4주간 활성 사용 빈도</a:t>
            </a:r>
            <a:endParaRPr lang="en-US" sz="900" dirty="0"/>
          </a:p>
        </p:txBody>
      </p:sp>
      <p:sp>
        <p:nvSpPr>
          <p:cNvPr id="128" name="Text 61"/>
          <p:cNvSpPr/>
          <p:nvPr/>
        </p:nvSpPr>
        <p:spPr>
          <a:xfrm>
            <a:off x="9305925" y="2743200"/>
            <a:ext cx="15659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행동 실천율: 조언 실천 비율</a:t>
            </a:r>
            <a:endParaRPr lang="en-US" sz="900" dirty="0"/>
          </a:p>
        </p:txBody>
      </p:sp>
      <p:sp>
        <p:nvSpPr>
          <p:cNvPr id="129" name="Text 62"/>
          <p:cNvSpPr/>
          <p:nvPr/>
        </p:nvSpPr>
        <p:spPr>
          <a:xfrm>
            <a:off x="6229350" y="3200400"/>
            <a:ext cx="2714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전문가 평가 기준</a:t>
            </a:r>
            <a:endParaRPr lang="en-US" sz="900" dirty="0"/>
          </a:p>
        </p:txBody>
      </p:sp>
      <p:sp>
        <p:nvSpPr>
          <p:cNvPr id="130" name="Text 63"/>
          <p:cNvSpPr/>
          <p:nvPr/>
        </p:nvSpPr>
        <p:spPr>
          <a:xfrm>
            <a:off x="6291263" y="3390900"/>
            <a:ext cx="228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</a:t>
            </a:r>
            <a:endParaRPr lang="en-US" sz="900" dirty="0"/>
          </a:p>
        </p:txBody>
      </p:sp>
      <p:sp>
        <p:nvSpPr>
          <p:cNvPr id="131" name="Text 64"/>
          <p:cNvSpPr/>
          <p:nvPr/>
        </p:nvSpPr>
        <p:spPr>
          <a:xfrm>
            <a:off x="6457950" y="3390900"/>
            <a:ext cx="25031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가시성 (Visibility)</a:t>
            </a:r>
            <a:endParaRPr lang="en-US" sz="900" dirty="0"/>
          </a:p>
        </p:txBody>
      </p:sp>
      <p:sp>
        <p:nvSpPr>
          <p:cNvPr id="132" name="Text 65"/>
          <p:cNvSpPr/>
          <p:nvPr/>
        </p:nvSpPr>
        <p:spPr>
          <a:xfrm>
            <a:off x="6457950" y="3543300"/>
            <a:ext cx="25031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 상태 및 감정 분석 결과의 명확한 표시</a:t>
            </a:r>
            <a:endParaRPr lang="en-US" sz="900" dirty="0"/>
          </a:p>
        </p:txBody>
      </p:sp>
      <p:sp>
        <p:nvSpPr>
          <p:cNvPr id="133" name="Text 66"/>
          <p:cNvSpPr/>
          <p:nvPr/>
        </p:nvSpPr>
        <p:spPr>
          <a:xfrm>
            <a:off x="6291263" y="3733800"/>
            <a:ext cx="228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</a:t>
            </a:r>
            <a:endParaRPr lang="en-US" sz="900" dirty="0"/>
          </a:p>
        </p:txBody>
      </p:sp>
      <p:sp>
        <p:nvSpPr>
          <p:cNvPr id="134" name="Text 67"/>
          <p:cNvSpPr/>
          <p:nvPr/>
        </p:nvSpPr>
        <p:spPr>
          <a:xfrm>
            <a:off x="6457950" y="3733800"/>
            <a:ext cx="2686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자연스러움 (Naturalness)</a:t>
            </a:r>
            <a:endParaRPr lang="en-US" sz="900" dirty="0"/>
          </a:p>
        </p:txBody>
      </p:sp>
      <p:sp>
        <p:nvSpPr>
          <p:cNvPr id="135" name="Text 68"/>
          <p:cNvSpPr/>
          <p:nvPr/>
        </p:nvSpPr>
        <p:spPr>
          <a:xfrm>
            <a:off x="6457950" y="3886200"/>
            <a:ext cx="2686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인터페이스의 자연스러운 흐름과 응답 품질</a:t>
            </a:r>
            <a:endParaRPr lang="en-US" sz="900" dirty="0"/>
          </a:p>
        </p:txBody>
      </p:sp>
      <p:sp>
        <p:nvSpPr>
          <p:cNvPr id="136" name="Text 69"/>
          <p:cNvSpPr/>
          <p:nvPr/>
        </p:nvSpPr>
        <p:spPr>
          <a:xfrm>
            <a:off x="6291263" y="4076700"/>
            <a:ext cx="228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</a:t>
            </a:r>
            <a:endParaRPr lang="en-US" sz="900" dirty="0"/>
          </a:p>
        </p:txBody>
      </p:sp>
      <p:sp>
        <p:nvSpPr>
          <p:cNvPr id="137" name="Text 70"/>
          <p:cNvSpPr/>
          <p:nvPr/>
        </p:nvSpPr>
        <p:spPr>
          <a:xfrm>
            <a:off x="6457950" y="4076700"/>
            <a:ext cx="21945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일관성 및 신뢰성 (Consistency)</a:t>
            </a:r>
            <a:endParaRPr lang="en-US" sz="900" dirty="0"/>
          </a:p>
        </p:txBody>
      </p:sp>
      <p:sp>
        <p:nvSpPr>
          <p:cNvPr id="138" name="Text 71"/>
          <p:cNvSpPr/>
          <p:nvPr/>
        </p:nvSpPr>
        <p:spPr>
          <a:xfrm>
            <a:off x="6457950" y="4229100"/>
            <a:ext cx="21945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요소와 상호작용 패턴의 일관된 적용</a:t>
            </a:r>
            <a:endParaRPr lang="en-US" sz="900" dirty="0"/>
          </a:p>
        </p:txBody>
      </p:sp>
      <p:sp>
        <p:nvSpPr>
          <p:cNvPr id="139" name="Text 72"/>
          <p:cNvSpPr/>
          <p:nvPr/>
        </p:nvSpPr>
        <p:spPr>
          <a:xfrm>
            <a:off x="9172575" y="3200400"/>
            <a:ext cx="2714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테스트 도구 및 방법</a:t>
            </a:r>
            <a:endParaRPr lang="en-US" sz="900" dirty="0"/>
          </a:p>
        </p:txBody>
      </p:sp>
      <p:sp>
        <p:nvSpPr>
          <p:cNvPr id="140" name="Text 73"/>
          <p:cNvSpPr/>
          <p:nvPr/>
        </p:nvSpPr>
        <p:spPr>
          <a:xfrm>
            <a:off x="9382125" y="3390900"/>
            <a:ext cx="21374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시선 추적 (Eye Tracking)</a:t>
            </a:r>
            <a:endParaRPr lang="en-US" sz="900" dirty="0"/>
          </a:p>
        </p:txBody>
      </p:sp>
      <p:sp>
        <p:nvSpPr>
          <p:cNvPr id="141" name="Text 74"/>
          <p:cNvSpPr/>
          <p:nvPr/>
        </p:nvSpPr>
        <p:spPr>
          <a:xfrm>
            <a:off x="9382125" y="3543300"/>
            <a:ext cx="21374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UI 요소 주목도 및 정보 탐색 패턴 분석</a:t>
            </a:r>
            <a:endParaRPr lang="en-US" sz="900" dirty="0"/>
          </a:p>
        </p:txBody>
      </p:sp>
      <p:sp>
        <p:nvSpPr>
          <p:cNvPr id="142" name="Text 75"/>
          <p:cNvSpPr/>
          <p:nvPr/>
        </p:nvSpPr>
        <p:spPr>
          <a:xfrm>
            <a:off x="9324975" y="3733800"/>
            <a:ext cx="2400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발성 사고법 (Think Aloud)</a:t>
            </a:r>
            <a:endParaRPr lang="en-US" sz="900" dirty="0"/>
          </a:p>
        </p:txBody>
      </p:sp>
      <p:sp>
        <p:nvSpPr>
          <p:cNvPr id="143" name="Text 76"/>
          <p:cNvSpPr/>
          <p:nvPr/>
        </p:nvSpPr>
        <p:spPr>
          <a:xfrm>
            <a:off x="9324975" y="3886200"/>
            <a:ext cx="2400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사용자가 생각을 소리내어 표현하며 테스트</a:t>
            </a:r>
            <a:endParaRPr lang="en-US" sz="900" dirty="0"/>
          </a:p>
        </p:txBody>
      </p:sp>
      <p:sp>
        <p:nvSpPr>
          <p:cNvPr id="144" name="Text 77"/>
          <p:cNvSpPr/>
          <p:nvPr/>
        </p:nvSpPr>
        <p:spPr>
          <a:xfrm>
            <a:off x="9382125" y="4076700"/>
            <a:ext cx="23431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행동 관찰 (Observation)</a:t>
            </a:r>
            <a:endParaRPr lang="en-US" sz="900" dirty="0"/>
          </a:p>
        </p:txBody>
      </p:sp>
      <p:sp>
        <p:nvSpPr>
          <p:cNvPr id="145" name="Text 78"/>
          <p:cNvSpPr/>
          <p:nvPr/>
        </p:nvSpPr>
        <p:spPr>
          <a:xfrm>
            <a:off x="9382125" y="4229100"/>
            <a:ext cx="23431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상호작용 행동 및 비언어적 반응 녹화 분석</a:t>
            </a:r>
            <a:endParaRPr lang="en-US" sz="900" dirty="0"/>
          </a:p>
        </p:txBody>
      </p:sp>
      <p:sp>
        <p:nvSpPr>
          <p:cNvPr id="146" name="Text 79"/>
          <p:cNvSpPr/>
          <p:nvPr/>
        </p:nvSpPr>
        <p:spPr>
          <a:xfrm>
            <a:off x="6229350" y="4610100"/>
            <a:ext cx="56578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분석 및 활용 방안</a:t>
            </a:r>
            <a:endParaRPr lang="en-US" sz="900" dirty="0"/>
          </a:p>
        </p:txBody>
      </p:sp>
      <p:sp>
        <p:nvSpPr>
          <p:cNvPr id="147" name="Text 80"/>
          <p:cNvSpPr/>
          <p:nvPr/>
        </p:nvSpPr>
        <p:spPr>
          <a:xfrm>
            <a:off x="6267450" y="4838700"/>
            <a:ext cx="1784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정량적 분석</a:t>
            </a:r>
            <a:endParaRPr lang="en-US" sz="900" dirty="0"/>
          </a:p>
        </p:txBody>
      </p:sp>
      <p:sp>
        <p:nvSpPr>
          <p:cNvPr id="148" name="Text 81"/>
          <p:cNvSpPr/>
          <p:nvPr/>
        </p:nvSpPr>
        <p:spPr>
          <a:xfrm>
            <a:off x="6267450" y="5010150"/>
            <a:ext cx="1784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작업 시간, 성공률, SUS 점수의 통계적 분석으로 객관적 성과 측정</a:t>
            </a:r>
            <a:endParaRPr lang="en-US" sz="900" dirty="0"/>
          </a:p>
        </p:txBody>
      </p:sp>
      <p:sp>
        <p:nvSpPr>
          <p:cNvPr id="149" name="Text 82"/>
          <p:cNvSpPr/>
          <p:nvPr/>
        </p:nvSpPr>
        <p:spPr>
          <a:xfrm>
            <a:off x="8166050" y="4838700"/>
            <a:ext cx="1784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정성적 분석</a:t>
            </a:r>
            <a:endParaRPr lang="en-US" sz="900" dirty="0"/>
          </a:p>
        </p:txBody>
      </p:sp>
      <p:sp>
        <p:nvSpPr>
          <p:cNvPr id="150" name="Text 83"/>
          <p:cNvSpPr/>
          <p:nvPr/>
        </p:nvSpPr>
        <p:spPr>
          <a:xfrm>
            <a:off x="8166050" y="5010150"/>
            <a:ext cx="1784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피드백 및 행동 관찰을 통한 심층적 인사이트 도출</a:t>
            </a:r>
            <a:endParaRPr lang="en-US" sz="900" dirty="0"/>
          </a:p>
        </p:txBody>
      </p:sp>
      <p:sp>
        <p:nvSpPr>
          <p:cNvPr id="151" name="Text 84"/>
          <p:cNvSpPr/>
          <p:nvPr/>
        </p:nvSpPr>
        <p:spPr>
          <a:xfrm>
            <a:off x="10064651" y="4838700"/>
            <a:ext cx="17843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반영 프로세스</a:t>
            </a:r>
            <a:endParaRPr lang="en-US" sz="900" dirty="0"/>
          </a:p>
        </p:txBody>
      </p:sp>
      <p:sp>
        <p:nvSpPr>
          <p:cNvPr id="152" name="Text 85"/>
          <p:cNvSpPr/>
          <p:nvPr/>
        </p:nvSpPr>
        <p:spPr>
          <a:xfrm>
            <a:off x="10064651" y="5010150"/>
            <a:ext cx="1784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발견된 문제점 우선순위화 후 디자인 개선에 반복적 적용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09700"/>
            <a:ext cx="5600700" cy="426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764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95500"/>
            <a:ext cx="2495550" cy="1485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2479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3622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7550" y="2095500"/>
            <a:ext cx="249555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950" y="22479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4250" y="2362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733800"/>
            <a:ext cx="2495550" cy="171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8862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40005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7550" y="3733800"/>
            <a:ext cx="2495550" cy="1714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9950" y="38862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14725" y="40005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09700"/>
            <a:ext cx="5600700" cy="426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1676400"/>
            <a:ext cx="257175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2095500"/>
            <a:ext cx="5143500" cy="1524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67500" y="2295525"/>
            <a:ext cx="15240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26670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29718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32766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771900"/>
            <a:ext cx="5143500" cy="1524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3971925"/>
            <a:ext cx="219075" cy="1714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4343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46482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7500" y="49530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5934075"/>
            <a:ext cx="104775" cy="1333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 효과 및 향후 계획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381000" y="952500"/>
            <a:ext cx="11430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프로젝트 완료 후 기대 효과와 서비스 확장 및 개선 방안 (13/17)</a:t>
            </a:r>
            <a:endParaRPr lang="en-US" sz="1200" dirty="0"/>
          </a:p>
        </p:txBody>
      </p:sp>
      <p:sp>
        <p:nvSpPr>
          <p:cNvPr id="33" name="Text 2"/>
          <p:cNvSpPr/>
          <p:nvPr/>
        </p:nvSpPr>
        <p:spPr>
          <a:xfrm>
            <a:off x="952500" y="16383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34" name="Text 3"/>
          <p:cNvSpPr/>
          <p:nvPr/>
        </p:nvSpPr>
        <p:spPr>
          <a:xfrm>
            <a:off x="1257300" y="230505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접근성 향상</a:t>
            </a:r>
            <a:endParaRPr lang="en-US" sz="1350" dirty="0"/>
          </a:p>
        </p:txBody>
      </p:sp>
      <p:sp>
        <p:nvSpPr>
          <p:cNvPr id="35" name="Text 4"/>
          <p:cNvSpPr/>
          <p:nvPr/>
        </p:nvSpPr>
        <p:spPr>
          <a:xfrm>
            <a:off x="762000" y="2743200"/>
            <a:ext cx="2190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챗봇을 통해 전문가와의 상담 접근성을 높이고, 사용자들의 감정 문제를 조기에 발견합니다.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3905250" y="230505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맞춤형 상담</a:t>
            </a:r>
            <a:endParaRPr lang="en-US" sz="1350" dirty="0"/>
          </a:p>
        </p:txBody>
      </p:sp>
      <p:sp>
        <p:nvSpPr>
          <p:cNvPr id="37" name="Text 6"/>
          <p:cNvSpPr/>
          <p:nvPr/>
        </p:nvSpPr>
        <p:spPr>
          <a:xfrm>
            <a:off x="3409950" y="2743200"/>
            <a:ext cx="2190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발화를 분석하여 개개인의 감정 상태와 특성에 맞춘 상담을 제공합니다.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257300" y="3943350"/>
            <a:ext cx="1280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마케팅 및 교육</a:t>
            </a:r>
            <a:endParaRPr lang="en-US" sz="1350" dirty="0"/>
          </a:p>
        </p:txBody>
      </p:sp>
      <p:sp>
        <p:nvSpPr>
          <p:cNvPr id="39" name="Text 8"/>
          <p:cNvSpPr/>
          <p:nvPr/>
        </p:nvSpPr>
        <p:spPr>
          <a:xfrm>
            <a:off x="762000" y="4381500"/>
            <a:ext cx="21907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시스템을 통해 정신건강의 중요성에 대한 인식을 높이고, 건강한 감정 관리 교육을 제공합니다.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3905250" y="3943350"/>
            <a:ext cx="14744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기반 분석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3409950" y="4381500"/>
            <a:ext cx="21907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데이터를 통한 감정 건강 통계적 분석을 수행하고, 사회적 문제점 발견 및 정책 제안에 기여합니다.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6810375" y="16383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향후 계획</a:t>
            </a:r>
            <a:endParaRPr lang="en-US" sz="1800" dirty="0"/>
          </a:p>
        </p:txBody>
      </p:sp>
      <p:sp>
        <p:nvSpPr>
          <p:cNvPr id="43" name="Text 12"/>
          <p:cNvSpPr/>
          <p:nvPr/>
        </p:nvSpPr>
        <p:spPr>
          <a:xfrm>
            <a:off x="6896100" y="22479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서비스 확장 기획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6896100" y="2628900"/>
            <a:ext cx="5292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다양한 채널(웹, 모바일, SNS)에서의 접근성 향상 및 통합 서비스 제공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6896100" y="2933700"/>
            <a:ext cx="5086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다국어 및 지역화된 콘텐츠 제공 전문화 및 텍스트 기반 성공률 개선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6896100" y="3238500"/>
            <a:ext cx="4823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엔터테인먼트 및 교육적 콘텐츠 확장으로 사용자 간극 단절 방지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962775" y="3924300"/>
            <a:ext cx="4762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기술 개선 주안점</a:t>
            </a:r>
            <a:endParaRPr lang="en-US" sz="1350" dirty="0"/>
          </a:p>
        </p:txBody>
      </p:sp>
      <p:sp>
        <p:nvSpPr>
          <p:cNvPr id="48" name="Text 17"/>
          <p:cNvSpPr/>
          <p:nvPr/>
        </p:nvSpPr>
        <p:spPr>
          <a:xfrm>
            <a:off x="6896100" y="4305300"/>
            <a:ext cx="39662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상태 세분화 및 다양한 감정 인식 알고리즘 개선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896100" y="4610100"/>
            <a:ext cx="448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대화맥락을 고려한 지수화된 감정 지원 및 반응 글머리 기법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896100" y="4914900"/>
            <a:ext cx="4777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피드백을 통한 지속적으로 발전하는 인공지능 모델 생성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523875" y="5905500"/>
            <a:ext cx="2571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감정 분석 기반 AI 상담 챗봇 시스템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11811000" y="5934075"/>
            <a:ext cx="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
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26" name="Image 24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8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400" b="0" i="0" dirty="0" err="1">
                <a:solidFill>
                  <a:srgbClr val="1F2328"/>
                </a:solidFill>
                <a:effectLst/>
                <a:latin typeface="-apple-system"/>
              </a:rPr>
              <a:t>주차별</a:t>
            </a:r>
            <a:r>
              <a:rPr lang="ko-KR" altLang="en-US" sz="2400" b="0" i="0" dirty="0">
                <a:solidFill>
                  <a:srgbClr val="1F2328"/>
                </a:solidFill>
                <a:effectLst/>
                <a:latin typeface="-apple-system"/>
              </a:rPr>
              <a:t> 일정표</a:t>
            </a:r>
            <a:endParaRPr lang="en-US" sz="2250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3BCEBDC-AAF9-456A-BA72-FE4501578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381527"/>
            <a:ext cx="10620777" cy="41471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524000"/>
            <a:ext cx="10363200" cy="133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167640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1981200"/>
            <a:ext cx="3619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2247900"/>
            <a:ext cx="3619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2514600"/>
            <a:ext cx="3619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971800"/>
            <a:ext cx="1036320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12420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429000"/>
            <a:ext cx="3619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695700"/>
            <a:ext cx="3619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3962400"/>
            <a:ext cx="3619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419600"/>
            <a:ext cx="103632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700" y="4572000"/>
            <a:ext cx="1333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49149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" y="4991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3150" y="49149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0" y="49911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8700" y="5372100"/>
            <a:ext cx="2667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800" y="54483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3150" y="5372100"/>
            <a:ext cx="2286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1250" y="5448300"/>
            <a:ext cx="152400" cy="1524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개발 현황 및 개선점</a:t>
            </a:r>
            <a:endParaRPr lang="en-US" sz="2250" dirty="0"/>
          </a:p>
        </p:txBody>
      </p:sp>
      <p:sp>
        <p:nvSpPr>
          <p:cNvPr id="28" name="Text 2"/>
          <p:cNvSpPr/>
          <p:nvPr/>
        </p:nvSpPr>
        <p:spPr>
          <a:xfrm>
            <a:off x="1276350" y="1638300"/>
            <a:ext cx="1013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현재 완성된 기능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1295400" y="19812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30" name="Text 4"/>
          <p:cNvSpPr/>
          <p:nvPr/>
        </p:nvSpPr>
        <p:spPr>
          <a:xfrm>
            <a:off x="1657350" y="2000250"/>
            <a:ext cx="4011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기본적인 챗봇 프레임워크 구현 (text based, 일부 API 연동)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295400" y="22479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32" name="Text 6"/>
          <p:cNvSpPr/>
          <p:nvPr/>
        </p:nvSpPr>
        <p:spPr>
          <a:xfrm>
            <a:off x="1657350" y="226695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텍스트 기반 사용자 질문 응답 처리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1295400" y="25146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1657350" y="2533650"/>
            <a:ext cx="3303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Emotion Classification을 위한 공유 원형 UI 구성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1276350" y="3086100"/>
            <a:ext cx="1013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개선이 필요한 부분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1295400" y="34290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</a:t>
            </a:r>
            <a:endParaRPr lang="en-US" sz="900" dirty="0"/>
          </a:p>
        </p:txBody>
      </p:sp>
      <p:sp>
        <p:nvSpPr>
          <p:cNvPr id="37" name="Text 11"/>
          <p:cNvSpPr/>
          <p:nvPr/>
        </p:nvSpPr>
        <p:spPr>
          <a:xfrm>
            <a:off x="1657350" y="3448050"/>
            <a:ext cx="5394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API 연동 실패 (standard speech_to_text &amp; emotion_classifier API)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1295400" y="36957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</a:t>
            </a:r>
            <a:endParaRPr lang="en-US" sz="900" dirty="0"/>
          </a:p>
        </p:txBody>
      </p:sp>
      <p:sp>
        <p:nvSpPr>
          <p:cNvPr id="39" name="Text 13"/>
          <p:cNvSpPr/>
          <p:nvPr/>
        </p:nvSpPr>
        <p:spPr>
          <a:xfrm>
            <a:off x="1657350" y="3714750"/>
            <a:ext cx="2948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감정 모니터링 기능 구현 필요성 높음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1295400" y="3962400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</a:t>
            </a:r>
            <a:endParaRPr lang="en-US" sz="900" dirty="0"/>
          </a:p>
        </p:txBody>
      </p:sp>
      <p:sp>
        <p:nvSpPr>
          <p:cNvPr id="41" name="Text 15"/>
          <p:cNvSpPr/>
          <p:nvPr/>
        </p:nvSpPr>
        <p:spPr>
          <a:xfrm>
            <a:off x="1657350" y="3981450"/>
            <a:ext cx="4057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다층 감정 분류 필요 (phrase 단위, persistence based 감정)</a:t>
            </a:r>
            <a:endParaRPr lang="en-US" sz="1050" dirty="0"/>
          </a:p>
        </p:txBody>
      </p:sp>
      <p:sp>
        <p:nvSpPr>
          <p:cNvPr id="42" name="Text 16"/>
          <p:cNvSpPr/>
          <p:nvPr/>
        </p:nvSpPr>
        <p:spPr>
          <a:xfrm>
            <a:off x="1238250" y="4533900"/>
            <a:ext cx="1013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핵심 기능 개선점</a:t>
            </a:r>
            <a:endParaRPr lang="en-US" sz="1350" dirty="0"/>
          </a:p>
        </p:txBody>
      </p:sp>
      <p:sp>
        <p:nvSpPr>
          <p:cNvPr id="43" name="Text 17"/>
          <p:cNvSpPr/>
          <p:nvPr/>
        </p:nvSpPr>
        <p:spPr>
          <a:xfrm>
            <a:off x="1333500" y="487680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 감정 모니터링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1333500" y="5067300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실시간으로 사용자 발화의 감정 변화를 추적하고 분석</a:t>
            </a:r>
            <a:endParaRPr lang="en-US" sz="900" dirty="0"/>
          </a:p>
        </p:txBody>
      </p:sp>
      <p:sp>
        <p:nvSpPr>
          <p:cNvPr id="45" name="Text 19"/>
          <p:cNvSpPr/>
          <p:nvPr/>
        </p:nvSpPr>
        <p:spPr>
          <a:xfrm>
            <a:off x="6457950" y="48768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다층 감정 분류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6457950" y="5067300"/>
            <a:ext cx="2537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감정의 심층 분석 및 위험 신호 조기 감지 기능</a:t>
            </a:r>
            <a:endParaRPr lang="en-US" sz="900" dirty="0"/>
          </a:p>
        </p:txBody>
      </p:sp>
      <p:sp>
        <p:nvSpPr>
          <p:cNvPr id="47" name="Text 21"/>
          <p:cNvSpPr/>
          <p:nvPr/>
        </p:nvSpPr>
        <p:spPr>
          <a:xfrm>
            <a:off x="1371600" y="53340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위험 신호 감지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1371600" y="55245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안전과 적절한 대응을 위한 위험 신호 감지 알고리즘</a:t>
            </a:r>
            <a:endParaRPr lang="en-US" sz="900" dirty="0"/>
          </a:p>
        </p:txBody>
      </p:sp>
      <p:sp>
        <p:nvSpPr>
          <p:cNvPr id="49" name="Text 23"/>
          <p:cNvSpPr/>
          <p:nvPr/>
        </p:nvSpPr>
        <p:spPr>
          <a:xfrm>
            <a:off x="6457950" y="5334000"/>
            <a:ext cx="2057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개인화된 응답 생성</a:t>
            </a:r>
            <a:endParaRPr lang="en-US" sz="1050" dirty="0"/>
          </a:p>
        </p:txBody>
      </p:sp>
      <p:sp>
        <p:nvSpPr>
          <p:cNvPr id="50" name="Text 24"/>
          <p:cNvSpPr/>
          <p:nvPr/>
        </p:nvSpPr>
        <p:spPr>
          <a:xfrm>
            <a:off x="6457950" y="5524500"/>
            <a:ext cx="24688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특성이 반영된 맞춤형 상담 응답 제공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733550"/>
            <a:ext cx="10363200" cy="1562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19240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2266950"/>
            <a:ext cx="2428875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23812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24574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9975" y="2266950"/>
            <a:ext cx="2428875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4275" y="23812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2375" y="24574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3150" y="2266950"/>
            <a:ext cx="2428875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7450" y="23812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550" y="2457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6325" y="2266950"/>
            <a:ext cx="2428875" cy="876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0625" y="238125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48725" y="24574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3409950"/>
            <a:ext cx="10363200" cy="2133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" y="3943350"/>
            <a:ext cx="2667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4900" y="401955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00" y="447675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4900" y="45529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00" y="5010150"/>
            <a:ext cx="2667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4900" y="5086350"/>
            <a:ext cx="190500" cy="152400"/>
          </a:xfrm>
          <a:prstGeom prst="rect">
            <a:avLst/>
          </a:prstGeom>
        </p:spPr>
      </p:pic>
      <p:pic>
        <p:nvPicPr>
          <p:cNvPr id="26" name="Image 24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8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API 연동 구조 개선</a:t>
            </a:r>
            <a:endParaRPr lang="en-US" sz="2250" dirty="0"/>
          </a:p>
        </p:txBody>
      </p:sp>
      <p:sp>
        <p:nvSpPr>
          <p:cNvPr id="29" name="Text 2"/>
          <p:cNvSpPr/>
          <p:nvPr/>
        </p:nvSpPr>
        <p:spPr>
          <a:xfrm>
            <a:off x="1333500" y="1885950"/>
            <a:ext cx="10058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필요 API 및 데이터 처리 방향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1485900" y="2419350"/>
            <a:ext cx="1062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분류 API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181100" y="2724150"/>
            <a:ext cx="22002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텍스트 기반 사용자 발화를 분석하여 감정 분류 결과 도출</a:t>
            </a:r>
            <a:endParaRPr lang="en-US" sz="900" dirty="0"/>
          </a:p>
        </p:txBody>
      </p:sp>
      <p:sp>
        <p:nvSpPr>
          <p:cNvPr id="32" name="Text 5"/>
          <p:cNvSpPr/>
          <p:nvPr/>
        </p:nvSpPr>
        <p:spPr>
          <a:xfrm>
            <a:off x="4029075" y="2419350"/>
            <a:ext cx="1062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패턴 분석 API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3724275" y="2724150"/>
            <a:ext cx="22002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내 사용자 언어 풍성도 분석 및 감정 패턴 감지</a:t>
            </a:r>
            <a:endParaRPr lang="en-US" sz="900" dirty="0"/>
          </a:p>
        </p:txBody>
      </p:sp>
      <p:sp>
        <p:nvSpPr>
          <p:cNvPr id="34" name="Text 7"/>
          <p:cNvSpPr/>
          <p:nvPr/>
        </p:nvSpPr>
        <p:spPr>
          <a:xfrm>
            <a:off x="6572250" y="2419350"/>
            <a:ext cx="1451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맥락 분석 API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267450" y="2724150"/>
            <a:ext cx="22002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대화 환경 및 맥락 기반 응답 발생 조건을 파악</a:t>
            </a:r>
            <a:endParaRPr lang="en-US" sz="900" dirty="0"/>
          </a:p>
        </p:txBody>
      </p:sp>
      <p:sp>
        <p:nvSpPr>
          <p:cNvPr id="36" name="Text 9"/>
          <p:cNvSpPr/>
          <p:nvPr/>
        </p:nvSpPr>
        <p:spPr>
          <a:xfrm>
            <a:off x="9115425" y="2419350"/>
            <a:ext cx="1234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개인화 추천 API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810625" y="2724150"/>
            <a:ext cx="22002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가입자별 개인화된 챗봇 상담응답 및 서비스 추천</a:t>
            </a:r>
            <a:endParaRPr lang="en-US" sz="900" dirty="0"/>
          </a:p>
        </p:txBody>
      </p:sp>
      <p:sp>
        <p:nvSpPr>
          <p:cNvPr id="38" name="Text 11"/>
          <p:cNvSpPr/>
          <p:nvPr/>
        </p:nvSpPr>
        <p:spPr>
          <a:xfrm>
            <a:off x="1066800" y="3562350"/>
            <a:ext cx="10058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연동 최적화 방안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1447800" y="3905250"/>
            <a:ext cx="4057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임베딩 모델 통합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1447800" y="4133850"/>
            <a:ext cx="4869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단어/문장 임베딩을 사용한 유사 표현 및 의미 색인 기반 고성능 구현 실현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1409700" y="443865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인퍼런스 최적화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1409700" y="46672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함수 레벨의 코드 인프런싱을 통한 배포 환경 제로 네트워크 인프라 최적화 실현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1447800" y="4972050"/>
            <a:ext cx="46196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APM/모니터링 조합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1447800" y="5200650"/>
            <a:ext cx="554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API 응답 지연 관리/감정 분석 범위 최적화를 통한 실시간 HTTP 비동기 호출 효율화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5917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server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socketserver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HTTPStatus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[0]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안전 및 공감 답변 목록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SENSITIVE_KEYWORDS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자살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자해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죽고 싶다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살기 싫다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뛰어내리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목숨을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끊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스스로 해치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SAFETY_RESPONSE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현재 당신이 매우 힘든 상황에 있다는 것을 이해합니다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하지만 당신은 혼자가 아닙니다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긴급한 도움이 필요할 경우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즉시 전문 기관에 연락하세요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"&lt;strong&gt;[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자살 예방 상담 전화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]&lt;/strong&gt;&lt;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국가번호 없이 **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109** (24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시간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"&lt;strong&gt;[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정신건강 상담 전화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]&lt;/strong&gt;&lt;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국가번호 없이 **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1577-0199** (24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시간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저희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AI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상담사는 전문 치료를 대체할 수 없습니다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안전이 최우선입니다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EMOTION_RESPONSES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우울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지금 많이 우울하고 힘드시죠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괜찮아요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제가 당신의 이야기를 들어드릴 준비가 되어 있어요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무엇이 당신을 그렇게 힘들게 하나요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힘들어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힘들다는 그 마음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제가 충분히 이해합니다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잠시 멈추고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쉬어가도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괜찮아요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어떤 점이 당신을 가장 지치게 하는지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말씀해주시겠어요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짜증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짜증나고 답답한 마음이 크시군요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그 감정은 지극히 자연스러운 것입니다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그 감정의 원인에 대해 조금 더 이야기해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주시겠어요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걱정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걱정 때문에 마음이 편치 않으시군요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어떤 일에 대해 걱정하고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계신가요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함께 이야기하면서 걱정을 덜어봐요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불안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불안한 마음이 당신을 짓누르고 있군요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불안함을 느끼는 것은 정상입니다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지금 가장 불안하게 만드는 것은 무엇인가요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기타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당신의 감정을 이해합니다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좀 더 자세히 이야기해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주시겠어요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152361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38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[1]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 로드 및 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전처리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DATASET_FILE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total_kor_counsel_bot.jsonl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script_dir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abspath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__file__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dataset_path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script_dir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'dataset'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DATASET_FILE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dataset_path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'input'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).strip(),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'output'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).strip()))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서버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데이터셋 로드 성공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총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쌍의 발화 데이터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로드됨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FileNotFoundError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데이터셋 파일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DATASET_FILE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을 찾을 수 없습니다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경로를 확인해주세요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dataset_path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서버는 시작되지만 상담 기능을 사용할 수 없습니다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데이터 로드 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600788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[2]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핵심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단순 문자열 검색 로직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안전 기능 강화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get_simple_response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사용자 메시지를 데이터셋의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'input'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과 단순 부분 문자열 일치로 비교하여 응답을 반환합니다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데이터셋 오류로 상담을 진행할 수 없습니다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메시지를 입력해주세요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[2-1]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안전 기능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최우선 예외 처리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keyword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keyword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SENSITIVE_KEYWORDS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SAFETY_RESPONSE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정확히 일치하는 경우만 우선적으로 처리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output_text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input_text_lower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output_text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일치하는 답변이 없을 경우 일상 인사말 및 키워드 검색 진행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4123384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일상 인사말 처리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안녕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반가워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저는 당신의 마음에 귀 기울이는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AI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상담사입니다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어떤 고민이 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있으신가요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[2-2]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짧은 감정 표현 처리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데이터셋 검색 우회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keywords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우울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힘들어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짜증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걱정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불안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detected_keyword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keywords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짧은 입력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(10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자 이내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이고 감정 키워드가 포함된 경우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데이터셋 검색 없이 바로 범용 응답 제공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detected_keyword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EMOTION_RESPONSES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detected_keyword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EMOTION_RESPONSES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기타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[2-2]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끝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긴 문장이나 특이한 문장이라면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가 여전히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일 경우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데이터셋 검색 시도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output_text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counseling_data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user_message_lower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input_text_lower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output_text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3.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모든 검색 실패 시 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폴백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응답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제가 아직 부족해서 정확히 이해를 못 했어요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혹시 다른 표현으로 말씀해 주실 수 있나요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듣고 싶어요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18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[4]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최종 필터링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사우님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단어 제거 및 가독성 개선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 '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사우님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단어 제거 및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당신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으로 대체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사우님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당신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가독성 개선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줄바꿈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문자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('\n')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를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HTML &lt;</a:t>
            </a:r>
            <a:r>
              <a:rPr lang="en-US" altLang="ko-K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태그로 변환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5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[3] Python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기본 웹 서버 </a:t>
            </a:r>
            <a:r>
              <a:rPr lang="ko-KR" altLang="en-US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핸들러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PurePythonChatServer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SimpleHTTPRequestHandler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end_headers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send_header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'Access-Control-Allow-Origin'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send_header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'Access-Control-Allow-Methods'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'POST, OPTIONS'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send_header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'Access-Control-Allow-Headers'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send_header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'Cache-Control'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'no-store, no-cache, must-revalidate'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end_headers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do_OPTIONS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send_response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end_headers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872424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do_POST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'/chat'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content_length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'Content-Length'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post_data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rfile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content_length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request_data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post_data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request_data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ai_response_text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get_simple_response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user_message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response_json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dumps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"response"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"SUCCESS"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emotion_label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ai_response_text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send_response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send_header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'application/json'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end_headers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wfile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response_json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서버 처리 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send_error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INTERNAL_SERVER_ERROR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서버 오류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send_error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NOT_FOUND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Found"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36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876300"/>
            <a:ext cx="10363200" cy="4914900"/>
          </a:xfrm>
          <a:prstGeom prst="rect">
            <a:avLst/>
          </a:prstGeom>
        </p:spPr>
      </p:pic>
      <p:pic>
        <p:nvPicPr>
          <p:cNvPr id="25" name="Image 23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7F57D4-42BF-4253-A144-66D538FC5444}"/>
              </a:ext>
            </a:extLst>
          </p:cNvPr>
          <p:cNvSpPr txBox="1"/>
          <p:nvPr/>
        </p:nvSpPr>
        <p:spPr>
          <a:xfrm>
            <a:off x="956211" y="934687"/>
            <a:ext cx="9654639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[4] </a:t>
            </a:r>
            <a:r>
              <a:rPr lang="ko-KR" alt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서버 실행 </a:t>
            </a:r>
            <a:r>
              <a:rPr lang="en-US" altLang="ko-K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8000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PurePythonChatServer</a:t>
            </a:r>
            <a:endParaRPr lang="ko-KR" alt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server_address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socketserver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TCPServer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server_address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httpd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"=================================================="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"|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순수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웹 서버 시작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http://127.0.0.1: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|"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"| 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파일 위치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test1/server.py                      |"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"=================================================="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"Ctrl + C</a:t>
            </a:r>
            <a:r>
              <a:rPr lang="ko-KR" alt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를 눌러 서버를 종료하세요</a:t>
            </a:r>
            <a:r>
              <a:rPr lang="en-US" altLang="ko-K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httpd</a:t>
            </a:r>
            <a:r>
              <a:rPr lang="en-US" altLang="ko-K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serve_forever</a:t>
            </a:r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18954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028700"/>
            <a:ext cx="3352800" cy="94964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11811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1524000"/>
            <a:ext cx="1905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161925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2057400"/>
            <a:ext cx="1905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215265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2590800"/>
            <a:ext cx="1905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268605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3429000"/>
            <a:ext cx="31242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" y="3505200"/>
            <a:ext cx="36195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" y="3733800"/>
            <a:ext cx="36195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5400" y="3962400"/>
            <a:ext cx="3619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1066800"/>
            <a:ext cx="14287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600" y="1409700"/>
            <a:ext cx="3371850" cy="38576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1409700"/>
            <a:ext cx="33718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800" y="1828800"/>
            <a:ext cx="3219450" cy="27527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0" y="1409700"/>
            <a:ext cx="3371850" cy="38576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5750" y="1409700"/>
            <a:ext cx="33718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1950" y="1828800"/>
            <a:ext cx="3219450" cy="24288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19600" y="5381625"/>
            <a:ext cx="6858000" cy="5143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600" y="5381625"/>
            <a:ext cx="68580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800" y="5800725"/>
            <a:ext cx="6705600" cy="4191000"/>
          </a:xfrm>
          <a:prstGeom prst="rect">
            <a:avLst/>
          </a:prstGeom>
        </p:spPr>
      </p:pic>
      <p:pic>
        <p:nvPicPr>
          <p:cNvPr id="27" name="Image 25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96600" y="10601325"/>
            <a:ext cx="381000" cy="304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29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UI/UX 디자인</a:t>
            </a:r>
            <a:endParaRPr lang="en-US" sz="2250" dirty="0"/>
          </a:p>
        </p:txBody>
      </p:sp>
      <p:sp>
        <p:nvSpPr>
          <p:cNvPr id="30" name="Text 2"/>
          <p:cNvSpPr/>
          <p:nvPr/>
        </p:nvSpPr>
        <p:spPr>
          <a:xfrm>
            <a:off x="1295400" y="114300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디자인 컨셉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1485900" y="1485900"/>
            <a:ext cx="2667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밝은 브랜드 이미지 vs 따뜻한 배경 사이 조화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485900" y="2019300"/>
            <a:ext cx="2667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민감한 주제 다루기 위한 '천칭을 넘지 않는' 기획 방향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485900" y="2552700"/>
            <a:ext cx="2667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효율적 UI 디자인을 위한 '간결함'과 '직관성'의 균형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028700" y="3162300"/>
            <a:ext cx="3124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UI 컴포넌트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371600" y="3505200"/>
            <a:ext cx="361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편집</a:t>
            </a:r>
            <a:endParaRPr lang="en-US" sz="900" dirty="0"/>
          </a:p>
        </p:txBody>
      </p:sp>
      <p:sp>
        <p:nvSpPr>
          <p:cNvPr id="36" name="Text 8"/>
          <p:cNvSpPr/>
          <p:nvPr/>
        </p:nvSpPr>
        <p:spPr>
          <a:xfrm>
            <a:off x="1733550" y="3505200"/>
            <a:ext cx="1177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선택 원형 UI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1371600" y="3733800"/>
            <a:ext cx="361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</a:t>
            </a:r>
            <a:endParaRPr lang="en-US" sz="900" dirty="0"/>
          </a:p>
        </p:txBody>
      </p:sp>
      <p:sp>
        <p:nvSpPr>
          <p:cNvPr id="38" name="Text 10"/>
          <p:cNvSpPr/>
          <p:nvPr/>
        </p:nvSpPr>
        <p:spPr>
          <a:xfrm>
            <a:off x="1733550" y="37338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채널 개선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1371600" y="3962400"/>
            <a:ext cx="361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추가</a:t>
            </a:r>
            <a:endParaRPr lang="en-US" sz="900" dirty="0"/>
          </a:p>
        </p:txBody>
      </p:sp>
      <p:sp>
        <p:nvSpPr>
          <p:cNvPr id="40" name="Text 12"/>
          <p:cNvSpPr/>
          <p:nvPr/>
        </p:nvSpPr>
        <p:spPr>
          <a:xfrm>
            <a:off x="1733550" y="39624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일기 기능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4638675" y="102870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디자인 요소</a:t>
            </a:r>
            <a:endParaRPr lang="en-US" sz="1500" dirty="0"/>
          </a:p>
        </p:txBody>
      </p:sp>
      <p:sp>
        <p:nvSpPr>
          <p:cNvPr id="42" name="Text 14"/>
          <p:cNvSpPr/>
          <p:nvPr/>
        </p:nvSpPr>
        <p:spPr>
          <a:xfrm>
            <a:off x="4495800" y="1409700"/>
            <a:ext cx="3371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및 자가 진단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4495800" y="4657725"/>
            <a:ext cx="33718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감정 분석 시 사용자가 효과적으로 감정 상태를 선택할 수 있는 직관적인 원형 인터페이스로, 사용자가 자신의 현재 감정 상태를 식별하는 데 도움을 줍니다.</a:t>
            </a:r>
            <a:endParaRPr lang="en-US" sz="900" dirty="0"/>
          </a:p>
        </p:txBody>
      </p:sp>
      <p:sp>
        <p:nvSpPr>
          <p:cNvPr id="44" name="Text 16"/>
          <p:cNvSpPr/>
          <p:nvPr/>
        </p:nvSpPr>
        <p:spPr>
          <a:xfrm>
            <a:off x="7981950" y="1409700"/>
            <a:ext cx="3371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상담 대화 채널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7981950" y="4333875"/>
            <a:ext cx="337185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자체 감정 프로필 전환 및 간식에서 효과적으로 원하는 감정 상태를 선택할 수 있으며, 상담 중 일부 다른 화면 전환이 가능한 구조로 설계되었습니다.</a:t>
            </a:r>
            <a:endParaRPr lang="en-US" sz="900" dirty="0"/>
          </a:p>
        </p:txBody>
      </p:sp>
      <p:sp>
        <p:nvSpPr>
          <p:cNvPr id="46" name="Text 18"/>
          <p:cNvSpPr/>
          <p:nvPr/>
        </p:nvSpPr>
        <p:spPr>
          <a:xfrm>
            <a:off x="4495800" y="5381625"/>
            <a:ext cx="685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서비스 소개 및 컨테스트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4495800" y="10067925"/>
            <a:ext cx="685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이름에 걸친 서비스 소개 및 다년간 활용 가능한 지속 가능한 서비스 목표를 부각한가이드를 제공하여 기능 및 제약 조건을 텍스크 학습 목적으로 활용 가능한 방안을 제시했습니다.</a:t>
            </a:r>
            <a:endParaRPr lang="en-US" sz="900" dirty="0"/>
          </a:p>
        </p:txBody>
      </p:sp>
      <p:sp>
        <p:nvSpPr>
          <p:cNvPr id="48" name="Text 20"/>
          <p:cNvSpPr/>
          <p:nvPr/>
        </p:nvSpPr>
        <p:spPr>
          <a:xfrm>
            <a:off x="914400" y="10658475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Page 16/17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0"/>
            <a:ext cx="2095500" cy="2095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91000"/>
            <a:ext cx="142875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028700"/>
            <a:ext cx="103632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11811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1485900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16002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48590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900" y="160020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6700" y="1485900"/>
            <a:ext cx="3048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900" y="1600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2171700"/>
            <a:ext cx="5105400" cy="2324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700" y="2667000"/>
            <a:ext cx="638175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3075" y="2628900"/>
            <a:ext cx="3838575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43075" y="2628900"/>
            <a:ext cx="3070771" cy="76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9175" y="3009900"/>
            <a:ext cx="6381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43075" y="2971800"/>
            <a:ext cx="3571875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43075" y="2971800"/>
            <a:ext cx="3214688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700" y="3352800"/>
            <a:ext cx="63817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43075" y="3314700"/>
            <a:ext cx="3838575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700" y="3695700"/>
            <a:ext cx="638175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43075" y="3657600"/>
            <a:ext cx="3838575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2171700"/>
            <a:ext cx="5105400" cy="2324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6500" y="2667000"/>
            <a:ext cx="4876800" cy="495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2781300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86500" y="3276600"/>
            <a:ext cx="4876800" cy="495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3390900"/>
            <a:ext cx="19050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86500" y="3886200"/>
            <a:ext cx="4876800" cy="495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62700" y="4000500"/>
            <a:ext cx="23812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4400" y="4686300"/>
            <a:ext cx="10363200" cy="1562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89150" y="5143500"/>
            <a:ext cx="3048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65350" y="52578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924401" y="5143500"/>
            <a:ext cx="3429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00601" y="5257800"/>
            <a:ext cx="1905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97901" y="5143500"/>
            <a:ext cx="3048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74101" y="5257800"/>
            <a:ext cx="152400" cy="152400"/>
          </a:xfrm>
          <a:prstGeom prst="rect">
            <a:avLst/>
          </a:prstGeom>
        </p:spPr>
      </p:pic>
      <p:pic>
        <p:nvPicPr>
          <p:cNvPr id="38" name="Image 36" descr="https://cdn.jsdelivr.net/npm/@fortawesome/fontawesome-free@6.0.0-beta3/svgs/solid/robot.sv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896600" y="6324600"/>
            <a:ext cx="381000" cy="3048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1028700" y="247650"/>
            <a:ext cx="140589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A34A"/>
                </a:highlight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챗봇 프로젝트</a:t>
            </a:r>
            <a:endParaRPr lang="en-US" sz="1050" dirty="0"/>
          </a:p>
        </p:txBody>
      </p:sp>
      <p:sp>
        <p:nvSpPr>
          <p:cNvPr id="40" name="Text 1"/>
          <p:cNvSpPr/>
          <p:nvPr/>
        </p:nvSpPr>
        <p:spPr>
          <a:xfrm>
            <a:off x="914400" y="533400"/>
            <a:ext cx="10363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향후 계획</a:t>
            </a:r>
            <a:endParaRPr lang="en-US" sz="2250" dirty="0"/>
          </a:p>
        </p:txBody>
      </p:sp>
      <p:sp>
        <p:nvSpPr>
          <p:cNvPr id="41" name="Text 2"/>
          <p:cNvSpPr/>
          <p:nvPr/>
        </p:nvSpPr>
        <p:spPr>
          <a:xfrm>
            <a:off x="1295400" y="1143000"/>
            <a:ext cx="1013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핵심 개선 방향</a:t>
            </a:r>
            <a:endParaRPr lang="en-US" sz="1500" dirty="0"/>
          </a:p>
        </p:txBody>
      </p:sp>
      <p:sp>
        <p:nvSpPr>
          <p:cNvPr id="42" name="Text 3"/>
          <p:cNvSpPr/>
          <p:nvPr/>
        </p:nvSpPr>
        <p:spPr>
          <a:xfrm>
            <a:off x="1447800" y="1485900"/>
            <a:ext cx="23717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데이터 기반 분석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1447800" y="1714500"/>
            <a:ext cx="28460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데이터를 활용한 감정 분석 알고리듬 고도화</a:t>
            </a:r>
            <a:endParaRPr lang="en-US" sz="900" dirty="0"/>
          </a:p>
        </p:txBody>
      </p:sp>
      <p:sp>
        <p:nvSpPr>
          <p:cNvPr id="44" name="Text 5"/>
          <p:cNvSpPr/>
          <p:nvPr/>
        </p:nvSpPr>
        <p:spPr>
          <a:xfrm>
            <a:off x="4876800" y="1485900"/>
            <a:ext cx="2543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대화 맥락 인지</a:t>
            </a:r>
            <a:endParaRPr lang="en-US" sz="1200" dirty="0"/>
          </a:p>
        </p:txBody>
      </p:sp>
      <p:sp>
        <p:nvSpPr>
          <p:cNvPr id="45" name="Text 6"/>
          <p:cNvSpPr/>
          <p:nvPr/>
        </p:nvSpPr>
        <p:spPr>
          <a:xfrm>
            <a:off x="4876800" y="1714500"/>
            <a:ext cx="30518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AI가 사용자 대화 내용과 맥락에 기반한 맥락 반응 구현</a:t>
            </a:r>
            <a:endParaRPr lang="en-US" sz="900" dirty="0"/>
          </a:p>
        </p:txBody>
      </p:sp>
      <p:sp>
        <p:nvSpPr>
          <p:cNvPr id="46" name="Text 7"/>
          <p:cNvSpPr/>
          <p:nvPr/>
        </p:nvSpPr>
        <p:spPr>
          <a:xfrm>
            <a:off x="8267700" y="1485900"/>
            <a:ext cx="2667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개선된 AI 응답 생성</a:t>
            </a:r>
            <a:endParaRPr lang="en-US" sz="1200" dirty="0"/>
          </a:p>
        </p:txBody>
      </p:sp>
      <p:sp>
        <p:nvSpPr>
          <p:cNvPr id="47" name="Text 8"/>
          <p:cNvSpPr/>
          <p:nvPr/>
        </p:nvSpPr>
        <p:spPr>
          <a:xfrm>
            <a:off x="8267700" y="1714500"/>
            <a:ext cx="3200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ChatGPT API 및 트랜스포머 기반 자신감 높은 답변 생성</a:t>
            </a:r>
            <a:endParaRPr lang="en-US" sz="900" dirty="0"/>
          </a:p>
        </p:txBody>
      </p:sp>
      <p:sp>
        <p:nvSpPr>
          <p:cNvPr id="48" name="Text 9"/>
          <p:cNvSpPr/>
          <p:nvPr/>
        </p:nvSpPr>
        <p:spPr>
          <a:xfrm>
            <a:off x="1028700" y="22860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발전 계획</a:t>
            </a:r>
            <a:endParaRPr lang="en-US" sz="1350" dirty="0"/>
          </a:p>
        </p:txBody>
      </p:sp>
      <p:sp>
        <p:nvSpPr>
          <p:cNvPr id="49" name="Text 10"/>
          <p:cNvSpPr/>
          <p:nvPr/>
        </p:nvSpPr>
        <p:spPr>
          <a:xfrm>
            <a:off x="1143000" y="266700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Phase 1</a:t>
            </a:r>
            <a:endParaRPr lang="en-US" sz="900" dirty="0"/>
          </a:p>
        </p:txBody>
      </p:sp>
      <p:sp>
        <p:nvSpPr>
          <p:cNvPr id="50" name="Text 11"/>
          <p:cNvSpPr/>
          <p:nvPr/>
        </p:nvSpPr>
        <p:spPr>
          <a:xfrm>
            <a:off x="5695950" y="2628900"/>
            <a:ext cx="251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51" name="Text 12"/>
          <p:cNvSpPr/>
          <p:nvPr/>
        </p:nvSpPr>
        <p:spPr>
          <a:xfrm>
            <a:off x="1123950" y="300990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13"/>
          <p:cNvSpPr/>
          <p:nvPr/>
        </p:nvSpPr>
        <p:spPr>
          <a:xfrm>
            <a:off x="5429250" y="2971800"/>
            <a:ext cx="57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현 진행 중</a:t>
            </a:r>
            <a:endParaRPr lang="en-US" sz="900" dirty="0"/>
          </a:p>
        </p:txBody>
      </p:sp>
      <p:sp>
        <p:nvSpPr>
          <p:cNvPr id="53" name="Text 14"/>
          <p:cNvSpPr/>
          <p:nvPr/>
        </p:nvSpPr>
        <p:spPr>
          <a:xfrm>
            <a:off x="1143000" y="335280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Phase 3</a:t>
            </a:r>
            <a:endParaRPr lang="en-US" sz="900" dirty="0"/>
          </a:p>
        </p:txBody>
      </p:sp>
      <p:sp>
        <p:nvSpPr>
          <p:cNvPr id="54" name="Text 15"/>
          <p:cNvSpPr/>
          <p:nvPr/>
        </p:nvSpPr>
        <p:spPr>
          <a:xfrm>
            <a:off x="5695950" y="3314700"/>
            <a:ext cx="251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예정</a:t>
            </a:r>
            <a:endParaRPr lang="en-US" sz="900" dirty="0"/>
          </a:p>
        </p:txBody>
      </p:sp>
      <p:sp>
        <p:nvSpPr>
          <p:cNvPr id="55" name="Text 16"/>
          <p:cNvSpPr/>
          <p:nvPr/>
        </p:nvSpPr>
        <p:spPr>
          <a:xfrm>
            <a:off x="1143000" y="3695700"/>
            <a:ext cx="76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Phase 4</a:t>
            </a:r>
            <a:endParaRPr lang="en-US" sz="900" dirty="0"/>
          </a:p>
        </p:txBody>
      </p:sp>
      <p:sp>
        <p:nvSpPr>
          <p:cNvPr id="56" name="Text 17"/>
          <p:cNvSpPr/>
          <p:nvPr/>
        </p:nvSpPr>
        <p:spPr>
          <a:xfrm>
            <a:off x="5695950" y="3657600"/>
            <a:ext cx="251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예정</a:t>
            </a:r>
            <a:endParaRPr lang="en-US" sz="900" dirty="0"/>
          </a:p>
        </p:txBody>
      </p:sp>
      <p:sp>
        <p:nvSpPr>
          <p:cNvPr id="57" name="Text 18"/>
          <p:cNvSpPr/>
          <p:nvPr/>
        </p:nvSpPr>
        <p:spPr>
          <a:xfrm>
            <a:off x="6286500" y="22860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기대 효과</a:t>
            </a:r>
            <a:endParaRPr lang="en-US" sz="1350" dirty="0"/>
          </a:p>
        </p:txBody>
      </p:sp>
      <p:sp>
        <p:nvSpPr>
          <p:cNvPr id="58" name="Text 19"/>
          <p:cNvSpPr/>
          <p:nvPr/>
        </p:nvSpPr>
        <p:spPr>
          <a:xfrm>
            <a:off x="6667500" y="2743200"/>
            <a:ext cx="31146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경험 개선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6667500" y="2933700"/>
            <a:ext cx="37376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사용자의 감정 인식 및 응답 맞춤화를 통한 향상된 상담 서비스 제공</a:t>
            </a:r>
            <a:endParaRPr lang="en-US" sz="900" dirty="0"/>
          </a:p>
        </p:txBody>
      </p:sp>
      <p:sp>
        <p:nvSpPr>
          <p:cNvPr id="60" name="Text 21"/>
          <p:cNvSpPr/>
          <p:nvPr/>
        </p:nvSpPr>
        <p:spPr>
          <a:xfrm>
            <a:off x="6667500" y="3352800"/>
            <a:ext cx="34385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면담임상 접근성 향상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6667500" y="3543300"/>
            <a:ext cx="41262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AI 기반 심층 감정 분석 시스템을 통한 기존 상담 인력 자원 대체/보완 방안</a:t>
            </a:r>
            <a:endParaRPr lang="en-US" sz="900" dirty="0"/>
          </a:p>
        </p:txBody>
      </p:sp>
      <p:sp>
        <p:nvSpPr>
          <p:cNvPr id="62" name="Text 23"/>
          <p:cNvSpPr/>
          <p:nvPr/>
        </p:nvSpPr>
        <p:spPr>
          <a:xfrm>
            <a:off x="6715125" y="3962400"/>
            <a:ext cx="4305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사회적 영향력 확대</a:t>
            </a:r>
            <a:endParaRPr lang="en-US" sz="1050" dirty="0"/>
          </a:p>
        </p:txBody>
      </p:sp>
      <p:sp>
        <p:nvSpPr>
          <p:cNvPr id="63" name="Text 24"/>
          <p:cNvSpPr/>
          <p:nvPr/>
        </p:nvSpPr>
        <p:spPr>
          <a:xfrm>
            <a:off x="6715125" y="4152900"/>
            <a:ext cx="5166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하루 24시간 상담 서비스 제공을 통한 심리 상담 접근성 및 혼란 효율적 매트릭스로 확장 기여</a:t>
            </a:r>
            <a:endParaRPr lang="en-US" sz="900" dirty="0"/>
          </a:p>
        </p:txBody>
      </p:sp>
      <p:sp>
        <p:nvSpPr>
          <p:cNvPr id="64" name="Text 25"/>
          <p:cNvSpPr/>
          <p:nvPr/>
        </p:nvSpPr>
        <p:spPr>
          <a:xfrm>
            <a:off x="1028700" y="4800600"/>
            <a:ext cx="1013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트리거 키워드 관리 정책</a:t>
            </a:r>
            <a:endParaRPr lang="en-US" sz="1350" dirty="0"/>
          </a:p>
        </p:txBody>
      </p:sp>
      <p:sp>
        <p:nvSpPr>
          <p:cNvPr id="65" name="Text 26"/>
          <p:cNvSpPr/>
          <p:nvPr/>
        </p:nvSpPr>
        <p:spPr>
          <a:xfrm>
            <a:off x="1028700" y="5600700"/>
            <a:ext cx="32257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위험 신호 반응</a:t>
            </a:r>
            <a:endParaRPr lang="en-US" sz="1200" dirty="0"/>
          </a:p>
        </p:txBody>
      </p:sp>
      <p:sp>
        <p:nvSpPr>
          <p:cNvPr id="66" name="Text 27"/>
          <p:cNvSpPr/>
          <p:nvPr/>
        </p:nvSpPr>
        <p:spPr>
          <a:xfrm>
            <a:off x="706130" y="5829300"/>
            <a:ext cx="387084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위험 신호 감지 시 바로 사람 문의로 전환, 관련 전문가 단순 유지 방식</a:t>
            </a:r>
            <a:endParaRPr lang="en-US" sz="900" dirty="0"/>
          </a:p>
        </p:txBody>
      </p:sp>
      <p:sp>
        <p:nvSpPr>
          <p:cNvPr id="67" name="Text 28"/>
          <p:cNvSpPr/>
          <p:nvPr/>
        </p:nvSpPr>
        <p:spPr>
          <a:xfrm>
            <a:off x="4483001" y="5600700"/>
            <a:ext cx="3225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인력/인공지능 유스구조</a:t>
            </a:r>
            <a:endParaRPr lang="en-US" sz="1200" dirty="0"/>
          </a:p>
        </p:txBody>
      </p:sp>
      <p:sp>
        <p:nvSpPr>
          <p:cNvPr id="68" name="Text 29"/>
          <p:cNvSpPr/>
          <p:nvPr/>
        </p:nvSpPr>
        <p:spPr>
          <a:xfrm>
            <a:off x="4483001" y="5829300"/>
            <a:ext cx="322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사람 상담사와 AI의 협업을 통한 신뢰도 향상된 이주시 짧은 연속 반응 실현</a:t>
            </a:r>
            <a:endParaRPr lang="en-US" sz="900" dirty="0"/>
          </a:p>
        </p:txBody>
      </p:sp>
      <p:sp>
        <p:nvSpPr>
          <p:cNvPr id="69" name="Text 30"/>
          <p:cNvSpPr/>
          <p:nvPr/>
        </p:nvSpPr>
        <p:spPr>
          <a:xfrm>
            <a:off x="7937450" y="5600700"/>
            <a:ext cx="32257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연령/인종 구분 접근법</a:t>
            </a:r>
            <a:endParaRPr lang="en-US" sz="1200" dirty="0"/>
          </a:p>
        </p:txBody>
      </p:sp>
      <p:sp>
        <p:nvSpPr>
          <p:cNvPr id="70" name="Text 31"/>
          <p:cNvSpPr/>
          <p:nvPr/>
        </p:nvSpPr>
        <p:spPr>
          <a:xfrm>
            <a:off x="7937450" y="5829300"/>
            <a:ext cx="32257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사용자 연령/학력/경우별 맞춤화 감성적 언어 패턴 인식 구조로 위기 대응 특화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5534</Words>
  <Application>Microsoft Office PowerPoint</Application>
  <PresentationFormat>와이드스크린</PresentationFormat>
  <Paragraphs>741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-apple-system</vt:lpstr>
      <vt:lpstr>Nanum Gothic</vt:lpstr>
      <vt:lpstr>Nanum Square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102</cp:lastModifiedBy>
  <cp:revision>4</cp:revision>
  <dcterms:created xsi:type="dcterms:W3CDTF">2025-12-08T21:37:18Z</dcterms:created>
  <dcterms:modified xsi:type="dcterms:W3CDTF">2025-12-09T06:39:56Z</dcterms:modified>
</cp:coreProperties>
</file>
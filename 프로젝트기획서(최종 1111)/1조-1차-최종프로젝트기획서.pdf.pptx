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91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4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34.png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21.png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7785" b="778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47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3795674" y="2465222"/>
            <a:ext cx="5172761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A9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TravelGenie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3988534" y="3627425"/>
            <a:ext cx="4787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맞춤형 </a:t>
            </a:r>
            <a:r>
              <a:rPr lang="en-US" sz="2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여행지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</a:t>
            </a:r>
            <a:r>
              <a:rPr lang="en-US" altLang="ko-KR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BF003B-C5C0-4197-A995-D008370B6BB2}"/>
              </a:ext>
            </a:extLst>
          </p:cNvPr>
          <p:cNvSpPr txBox="1"/>
          <p:nvPr/>
        </p:nvSpPr>
        <p:spPr>
          <a:xfrm>
            <a:off x="5116246" y="5223212"/>
            <a:ext cx="2144648" cy="162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</a:t>
            </a:r>
            <a:endParaRPr lang="en-US" altLang="ko-KR" sz="13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20252658-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김정현</a:t>
            </a:r>
          </a:p>
          <a:p>
            <a:pPr marL="0" indent="0" algn="ctr">
              <a:buNone/>
            </a:pP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20251233-</a:t>
            </a:r>
            <a:r>
              <a:rPr lang="ko-KR" alt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김정민</a:t>
            </a:r>
          </a:p>
          <a:p>
            <a:pPr marL="0" indent="0" algn="ctr">
              <a:buNone/>
            </a:pP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20251248-</a:t>
            </a:r>
            <a:r>
              <a:rPr lang="ko-KR" alt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공수민</a:t>
            </a:r>
            <a:endParaRPr lang="ko-KR" altLang="en-US" sz="13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altLang="ko-KR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20252347-</a:t>
            </a:r>
            <a:r>
              <a:rPr lang="ko-KR" altLang="en-US" sz="130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박상아</a:t>
            </a:r>
            <a:endParaRPr lang="en-US" altLang="ko-KR" sz="13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altLang="ko-KR" sz="130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13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FE2CA0FB-8F01-4126-B323-52B74BFC23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4" r="-44"/>
          <a:stretch/>
        </p:blipFill>
        <p:spPr>
          <a:xfrm>
            <a:off x="5311660" y="4454390"/>
            <a:ext cx="514807" cy="457200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5A57844B-C76A-429D-9B9D-FF383B7B53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6016663" y="4586978"/>
            <a:ext cx="171907" cy="190195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992157B0-80DB-4A4C-8A0A-26D59DC339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78765" y="4454390"/>
            <a:ext cx="5715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09905" y="1028700"/>
            <a:ext cx="705002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390449"/>
            <a:ext cx="991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905" y="144749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6" name="Shape 4"/>
          <p:cNvSpPr/>
          <p:nvPr/>
        </p:nvSpPr>
        <p:spPr>
          <a:xfrm>
            <a:off x="609905" y="198150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" y="148590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7105" y="1509674"/>
            <a:ext cx="190195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05" y="304769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7804" y="201899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33195" y="1457554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5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67105" y="2042770"/>
            <a:ext cx="190195" cy="19019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2514600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4" name="Shape 10"/>
          <p:cNvSpPr/>
          <p:nvPr/>
        </p:nvSpPr>
        <p:spPr>
          <a:xfrm>
            <a:off x="609905" y="4114800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7804" y="25530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333195" y="1990649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67105" y="2576779"/>
            <a:ext cx="142646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804" y="308610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285646" y="25237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방안</a:t>
            </a:r>
            <a:endParaRPr lang="en-US" sz="15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7105" y="3109874"/>
            <a:ext cx="237744" cy="19019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9905" y="358170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17804" y="361919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380744" y="3057754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구현: 알고리즘</a:t>
            </a:r>
            <a:endParaRPr lang="en-US" sz="15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1067105" y="3642970"/>
            <a:ext cx="219456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7804" y="41532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362456" y="3590849"/>
            <a:ext cx="22960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구현: 시스템 아키텍처</a:t>
            </a:r>
            <a:endParaRPr lang="en-US" sz="15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7105" y="4176979"/>
            <a:ext cx="142646" cy="19019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285646" y="4123944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서비스 사례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6248095" y="144749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6356909" y="148590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6705295" y="1509674"/>
            <a:ext cx="171907" cy="19019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248095" y="198150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3" name="Shape 24"/>
          <p:cNvSpPr/>
          <p:nvPr/>
        </p:nvSpPr>
        <p:spPr>
          <a:xfrm>
            <a:off x="6248095" y="4114800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356909" y="201899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953098" y="1457554"/>
            <a:ext cx="17053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활용</a:t>
            </a:r>
            <a:endParaRPr lang="en-US" sz="15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705295" y="2042770"/>
            <a:ext cx="190195" cy="190195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248095" y="2514600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8" name="Shape 28"/>
          <p:cNvSpPr/>
          <p:nvPr/>
        </p:nvSpPr>
        <p:spPr>
          <a:xfrm>
            <a:off x="6248095" y="304769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6356909" y="2553005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6312103" y="3086100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6312103" y="3619195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6972300" y="1990649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계획 (Gantt)</a:t>
            </a:r>
            <a:endParaRPr lang="en-US" sz="15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705295" y="2576779"/>
            <a:ext cx="237744" cy="19019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019849" y="2523744"/>
            <a:ext cx="1133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역할 분담</a:t>
            </a:r>
            <a:endParaRPr lang="en-US" sz="1500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705295" y="3109874"/>
            <a:ext cx="190195" cy="190195"/>
          </a:xfrm>
          <a:prstGeom prst="rect">
            <a:avLst/>
          </a:prstGeom>
        </p:spPr>
      </p:pic>
      <p:sp>
        <p:nvSpPr>
          <p:cNvPr id="46" name="Shape 34"/>
          <p:cNvSpPr/>
          <p:nvPr/>
        </p:nvSpPr>
        <p:spPr>
          <a:xfrm>
            <a:off x="6248095" y="3581705"/>
            <a:ext cx="304495" cy="304495"/>
          </a:xfrm>
          <a:prstGeom prst="ellipse">
            <a:avLst/>
          </a:prstGeom>
          <a:solidFill>
            <a:srgbClr val="4299E1"/>
          </a:solidFill>
          <a:ln/>
        </p:spPr>
      </p:sp>
      <p:sp>
        <p:nvSpPr>
          <p:cNvPr id="47" name="Text 35"/>
          <p:cNvSpPr txBox="1"/>
          <p:nvPr/>
        </p:nvSpPr>
        <p:spPr>
          <a:xfrm>
            <a:off x="6972300" y="3057754"/>
            <a:ext cx="15343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및 검증 지표</a:t>
            </a:r>
            <a:endParaRPr lang="en-US" sz="150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05295" y="3642970"/>
            <a:ext cx="190195" cy="19019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312103" y="4153205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6972300" y="3590849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및 향후 발전</a:t>
            </a:r>
            <a:endParaRPr lang="en-US" sz="15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rcRect l="-1648" r="-1648"/>
          <a:stretch/>
        </p:blipFill>
        <p:spPr>
          <a:xfrm>
            <a:off x="6705295" y="4176979"/>
            <a:ext cx="171907" cy="190195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6953098" y="412394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문헌</a:t>
            </a:r>
            <a:endParaRPr lang="en-US" sz="1500" dirty="0"/>
          </a:p>
        </p:txBody>
      </p:sp>
      <p:sp>
        <p:nvSpPr>
          <p:cNvPr id="53" name="Text 39"/>
          <p:cNvSpPr txBox="1"/>
          <p:nvPr/>
        </p:nvSpPr>
        <p:spPr>
          <a:xfrm>
            <a:off x="9263786" y="627095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2210105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24963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7650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5995" y="1218895"/>
            <a:ext cx="600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5440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 준비 과정은 복잡하고 분산되어 있습니다. 항공권, 숙소, 관광지, 리뷰 등 다양한 정보를 수집하고 비교하는 과정에서 많은 사용자들이 의사결정 피로를 경험합니다.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272857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5995" y="2671877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기회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3099816"/>
            <a:ext cx="544068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엑센추어 보고서에 따르면, 생성형 AI는 전 세계 여행 산업에 약 280억 달러의 새로운 가치를 창출할 것으로 전망됩니다. 여행자의 97%가 모든 여행 서비스를 통합한 '슈퍼앱'을 원하고 있습니다.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180637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5995" y="4123944"/>
            <a:ext cx="600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4552798"/>
            <a:ext cx="38980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맞춤형 여행지 추천과 대화형 여행 플래너를 통해: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33095" y="4820717"/>
            <a:ext cx="21643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여행 탐색 시간 단축 (-50%)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3095" y="5088636"/>
            <a:ext cx="2259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만족도 향상 (+20%p)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33095" y="5356555"/>
            <a:ext cx="22786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예약 전환율 증가 (+15~25%)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3095" y="5625389"/>
            <a:ext cx="21168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여행 경험 개인화 및 최적화</a:t>
            </a:r>
            <a:endParaRPr lang="en-US" sz="13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8" b="8"/>
          <a:stretch/>
        </p:blipFill>
        <p:spPr>
          <a:xfrm>
            <a:off x="7151875" y="2287616"/>
            <a:ext cx="4197679" cy="217922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5086807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53721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— 여행 계획의 어려움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7650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5995" y="1218895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과부하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544068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여행자들은 평균적으로 10개 이상의 정보 출처를 탐색하며, 90% 이상이 리뷰와 소셜 미디어 콘텐츠에 의존하여 목적지를 선택합니다.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3095" y="2403043"/>
            <a:ext cx="2628900" cy="11045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533095" y="2403043"/>
            <a:ext cx="38405" cy="110459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4205" y="2527402"/>
            <a:ext cx="79644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66%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24205" y="2928823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여행 계획 도구에 불만족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14700" y="2403043"/>
            <a:ext cx="2628900" cy="110459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3314700" y="2403043"/>
            <a:ext cx="38405" cy="110459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04895" y="2527402"/>
            <a:ext cx="79644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61%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3504895" y="2928823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웹사이트/앱이 너무 복잡하다고 느낌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3709721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75995" y="3653028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문제점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33095" y="4081882"/>
            <a:ext cx="5498287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최신성/신뢰성 부족: AI 할루시네이션으로 부정확한 정보 제공 • 개인화 부족: 사용자 취향과 여행 스타일 미반영 • 최적화 어려움: 예산 및 동선 최적화 어려움 • 다국어 장벽: 해외여행시 언어 소통 문제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11" r="11"/>
          <a:stretch/>
        </p:blipFill>
        <p:spPr>
          <a:xfrm>
            <a:off x="7962595" y="3068726"/>
            <a:ext cx="1981505" cy="12006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6372454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6658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방안 — AI 기반 여행지 추천 시스템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533095" y="1276502"/>
            <a:ext cx="256946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5256" y="1218895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551749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개인화 추천: 사용자 선호도, 행동 패턴, 여행 맥락 기반 추천 • 대화형 플래너: 자연어 질의응답으로 여행 일정 설계 및 수정 • 일정 자동화: 운영시간/휴무일 반영 및 동선 최적화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533095" y="2728570"/>
            <a:ext cx="286207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3602" y="2671877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역량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3099816"/>
            <a:ext cx="54507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정보 통합: 가격, 날씨, 지역 이벤트, 혼잡도 • 안전 및 리스크 관리: 여행지 안전 경고, 건강 정보 • 언어 지원: 다국어 번역 및 현지 정보 제공 • RAG 기술: 최신 여행 정보로 모델 보강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180637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5995" y="4123944"/>
            <a:ext cx="1038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KPI 목표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4552798"/>
            <a:ext cx="550743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여행 계획 탐색 시간 50% 단축 • 여행 상품 예약 전환율 15~25% 증가 • 사용자 일정 만족도 20%p 향상 • 재방문율 및 앱 체류시간 증가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2" b="2"/>
          <a:stretch/>
        </p:blipFill>
        <p:spPr>
          <a:xfrm>
            <a:off x="6248095" y="1977847"/>
            <a:ext cx="5410505" cy="338145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96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4276649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45628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 — 추천 알고리즘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74674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218895"/>
            <a:ext cx="18562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기반 필터링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15745"/>
            <a:ext cx="4963363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여행지/숙소의 속성과 메타데이터를 분석하여 사용자가 과거에 선호했던 아이템과 유사한 항목을 추천합니다. 텍스트 설명, 이미지 특성, 위치 데이터, 평점 등을 활용합니다.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533095" y="2630729"/>
            <a:ext cx="267005" cy="2093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2574950"/>
            <a:ext cx="12079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필터링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2971800"/>
            <a:ext cx="5000854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사용자-아이템 상호작용 패턴을 분석해 유사한 취향을 가진 사용자들이 좋아한 여행지를 추천합니다. 행렬 분해(Matrix Factorization), 최근접 이웃(Nearest Neighbors) 기법을 활용합니다.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903" r="-1903"/>
          <a:stretch/>
        </p:blipFill>
        <p:spPr>
          <a:xfrm>
            <a:off x="533095" y="3986784"/>
            <a:ext cx="190195" cy="2093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38505" y="3931006"/>
            <a:ext cx="15983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방식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4327855"/>
            <a:ext cx="49917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접근법의 장점을 결합하여 정확도와 다양성을 높입니다. 가중치 조합, 순차적 적용(스택킹), 학습-투-랭크(LTR) 기법으로 최종 추천 목록을 최적화합니다.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3095" y="5098694"/>
            <a:ext cx="209398" cy="2093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7707" y="5043830"/>
            <a:ext cx="16559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시퀀스 기반 추천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33095" y="5439766"/>
            <a:ext cx="49341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Transformer/RNN 모델로 여행 일정의 맥락과 순서를 학습하여 다음 여행지를 예측합니다. 시간대, 계절, 날씨 등 컨텍스트 정보도 함께 고려합니다.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6325819" y="1591970"/>
            <a:ext cx="4762195" cy="381030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979615" y="5597042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4299E1"/>
          </a:solidFill>
          <a:ln/>
        </p:spPr>
      </p:sp>
      <p:sp>
        <p:nvSpPr>
          <p:cNvPr id="19" name="Shape 12"/>
          <p:cNvSpPr/>
          <p:nvPr/>
        </p:nvSpPr>
        <p:spPr>
          <a:xfrm>
            <a:off x="8247888" y="5597042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48BB78"/>
          </a:solidFill>
          <a:ln/>
        </p:spPr>
      </p:sp>
      <p:sp>
        <p:nvSpPr>
          <p:cNvPr id="20" name="Shape 13"/>
          <p:cNvSpPr/>
          <p:nvPr/>
        </p:nvSpPr>
        <p:spPr>
          <a:xfrm>
            <a:off x="9515246" y="5597042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ED8936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7199071" y="555498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콘텐츠 기반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466430" y="555498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필터링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9734702" y="5554980"/>
            <a:ext cx="819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340596" y="6384341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4629607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49149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 — 시스템 아키텍처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903" r="-1903"/>
          <a:stretch/>
        </p:blipFill>
        <p:spPr>
          <a:xfrm>
            <a:off x="533095" y="1274674"/>
            <a:ext cx="190195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505" y="1218895"/>
            <a:ext cx="12079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15745"/>
            <a:ext cx="49057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AI-Hub 여행정보 및 여행로그 데이터셋, 플랫폼 사용자 로그, 외부 API(날씨, 교통, 이벤트, 가격 정보)를 수집하여 통합 데이터 레이크 구축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2386584"/>
            <a:ext cx="209398" cy="2093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7707" y="2331720"/>
            <a:ext cx="18653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ETL &amp; 피처 스토어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2727655"/>
            <a:ext cx="49917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전처리·정규화 파이프라인, 지리적/시간적 피처 생성, 사용자 프로필 분석, 여행 의도 파악 모듈로 학습 및 추론용 데이터 준비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3499409"/>
            <a:ext cx="209398" cy="2093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7707" y="3443630"/>
            <a:ext cx="12079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레이어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3840480"/>
            <a:ext cx="49057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모델, 협업필터링, 시퀀스 기반 추천, LLM+RAG 컴포넌트, 학습-투-랭크(LTR) 재랭킹으로 다층적 추천 시스템 구성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33095" y="4611319"/>
            <a:ext cx="209398" cy="2093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7707" y="4556455"/>
            <a:ext cx="180868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&amp; 프런트엔드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33095" y="4952390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추천 API, 세션 기반 컨텍스트 관리, 대화형 플래너 UI, 지도/동선 시각화, 다국어 지원, 개인정보 보호 및 A/B 테스트 인프라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6096000" y="1615745"/>
            <a:ext cx="5562905" cy="3885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3124505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34107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 활용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533095" y="1276502"/>
            <a:ext cx="200254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7649" y="1218895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 데이터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546994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AI-Hub 여행 정보 데이터셋 (24,557개 이벤트, 위치, 시작일, 종료일) 국내 여행로그 데이터 (수도권/제주/도서지역) - 방문 장소, 동선, 체류시간, 평점 포함 공공데이터포털 관광지/맛집/숙박 정보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272857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5995" y="2671877"/>
            <a:ext cx="1505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 데이터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3099816"/>
            <a:ext cx="41934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행동 데이터: 검색어, 클릭, 북마크, 페이지 체류시간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33095" y="3368650"/>
            <a:ext cx="37261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예약 및 구매 이력: 숙소, 항공권, 액티비티 예약 패턴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33095" y="3636569"/>
            <a:ext cx="45930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텍스트 및 이미지: 감성 분석, 핵심 키워드 추출, 이미지 분류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533095" y="4180637"/>
            <a:ext cx="286207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33602" y="4123944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데이터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33095" y="4552798"/>
            <a:ext cx="27358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날씨/기상 API: 실시간 및 예보 데이터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33095" y="4820717"/>
            <a:ext cx="3697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교통/혼잡도: 대중교통, 도로 상황, 관광지 방문객 수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33095" y="5088636"/>
            <a:ext cx="25932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이벤트/축제 정보: 지역별 행사 일정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33095" y="5356555"/>
            <a:ext cx="31647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환율/물가/치안 지표: 국가별 여행 안전 정보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533095" y="5901538"/>
            <a:ext cx="286207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602" y="5843930"/>
            <a:ext cx="1505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533095" y="6272784"/>
            <a:ext cx="542239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중복/노이즈 제거, POI 정규화, 좌표계 통일 시간대/시즌 피처링, 텍스트 임베딩, 이미지 특징 추출 개인정보 비식별화, 사용자 동의 기반 데이터 수집/관리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340596" y="7256678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  <p:pic>
        <p:nvPicPr>
          <p:cNvPr id="1026" name="Picture 2" descr="The process involved in data analysis involves several different steps ...">
            <a:extLst>
              <a:ext uri="{FF2B5EF4-FFF2-40B4-BE49-F238E27FC236}">
                <a16:creationId xmlns:a16="http://schemas.microsoft.com/office/drawing/2014/main" id="{789E0DFA-7B9F-4ECF-AA84-4DE170B2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919" y="2231898"/>
            <a:ext cx="51435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250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2667305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2953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서비스 사례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533095" y="1276502"/>
            <a:ext cx="256946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5256" y="1218895"/>
            <a:ext cx="8293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MYRO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551749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2019년 출시된 AI 여행 플래너 서비스로, 구글 API 기반 전 세계 25만여 개 장소 데이터와 자체 AI 엔진을 활용합니다. 사용자가 가고 싶은 장소만 선택하면 운영시간, 휴무일, 브레이크 타임을 고려한 시·분 단위 최적 일정을 자동 생성합니다.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2996489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5995" y="2939796"/>
            <a:ext cx="2791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대한민국 구석구석 (AI콕콕)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3368650"/>
            <a:ext cx="5536692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한국관광공사가 2022년부터 운영하는 AI 기반 여행 코스 추천 서비스입니다. 4만여 개 관광지 정보(POI)와 사용자 활동 데이터를 기반으로 'AI콕콕', 'AI콕콕 플래너', '핫플콕콕' 세 가지 서비스를 제공하여 개인화된 국내 여행 경험을 지원합니다.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71739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5995" y="4659782"/>
            <a:ext cx="2086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놀유니버스 (트리플)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5088636"/>
            <a:ext cx="5517490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야놀자, 인터파크, 트리플의 통합 서비스로, AI와 빅데이터 기반 여행 일정 관리 기능을 제공합니다. 항공권과 숙소가 일정에 자동 연동되며, 지도와 연계된 이동 동선 자동 계산 및 사용자 취향 기반 추천 서비스를 지속 고도화하고 있습니다.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2" b="2"/>
          <a:stretch/>
        </p:blipFill>
        <p:spPr>
          <a:xfrm>
            <a:off x="6572707" y="2390242"/>
            <a:ext cx="4762195" cy="28190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40596" y="6609283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4466844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47530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추진 계획 (Gantt)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903" r="-1903"/>
          <a:stretch/>
        </p:blipFill>
        <p:spPr>
          <a:xfrm>
            <a:off x="533095" y="1274674"/>
            <a:ext cx="190195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505" y="1218895"/>
            <a:ext cx="230337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요구정의 및 데이터 수집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15745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W1-2: 사용자 요구사항 분석, 데이터 소스 확보, 초기 설계 M1: 요건 동결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1004" r="-1004"/>
          <a:stretch/>
        </p:blipFill>
        <p:spPr>
          <a:xfrm>
            <a:off x="533095" y="2143354"/>
            <a:ext cx="267005" cy="2093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14400" y="2087575"/>
            <a:ext cx="159837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구현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2483510"/>
            <a:ext cx="50200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W3-4: 기본 추천 알고리즘(콘텐츠/협업) 구현, UI 와이어프레임 설계 M2: PoC 완료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3255264"/>
            <a:ext cx="209398" cy="2093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7707" y="3200400"/>
            <a:ext cx="146578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기능 개발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3596335"/>
            <a:ext cx="48774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W5-6: 시퀀스/하이브리드 모델 구현, RAG 적용, 지도/동선 최적화 M3: 기능 완료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1004" r="-1004"/>
          <a:stretch/>
        </p:blipFill>
        <p:spPr>
          <a:xfrm>
            <a:off x="533095" y="4368089"/>
            <a:ext cx="267005" cy="20939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14400" y="4312310"/>
            <a:ext cx="191292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및 성능 최적화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33095" y="4708246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W7: 시스템 통합, 성능 튜닝, 보안 검증 M4: 통합 완료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004" r="-1004"/>
          <a:stretch/>
        </p:blipFill>
        <p:spPr>
          <a:xfrm>
            <a:off x="533095" y="5235854"/>
            <a:ext cx="267005" cy="20939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14400" y="5180990"/>
            <a:ext cx="21131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테스트 및 런칭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33095" y="5576926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W8: 사용자 테스트 실행, A/B 테스트, 베타 런칭 준비 M5: 베타 런치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7" b="-7"/>
          <a:stretch/>
        </p:blipFill>
        <p:spPr>
          <a:xfrm>
            <a:off x="6325819" y="1459382"/>
            <a:ext cx="4762195" cy="38103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5908853" y="5578754"/>
            <a:ext cx="133502" cy="142646"/>
          </a:xfrm>
          <a:prstGeom prst="roundRect">
            <a:avLst>
              <a:gd name="adj" fmla="val 146771"/>
            </a:avLst>
          </a:prstGeom>
          <a:solidFill>
            <a:srgbClr val="3182CE"/>
          </a:solidFill>
          <a:ln/>
        </p:spPr>
      </p:sp>
      <p:sp>
        <p:nvSpPr>
          <p:cNvPr id="22" name="Shape 14"/>
          <p:cNvSpPr/>
          <p:nvPr/>
        </p:nvSpPr>
        <p:spPr>
          <a:xfrm>
            <a:off x="7325258" y="5578754"/>
            <a:ext cx="133502" cy="142646"/>
          </a:xfrm>
          <a:prstGeom prst="roundRect">
            <a:avLst>
              <a:gd name="adj" fmla="val 146771"/>
            </a:avLst>
          </a:prstGeom>
          <a:solidFill>
            <a:srgbClr val="48BB78"/>
          </a:solidFill>
          <a:ln/>
        </p:spPr>
      </p:sp>
      <p:sp>
        <p:nvSpPr>
          <p:cNvPr id="23" name="Shape 15"/>
          <p:cNvSpPr/>
          <p:nvPr/>
        </p:nvSpPr>
        <p:spPr>
          <a:xfrm>
            <a:off x="8441741" y="5578754"/>
            <a:ext cx="133502" cy="142646"/>
          </a:xfrm>
          <a:prstGeom prst="roundRect">
            <a:avLst>
              <a:gd name="adj" fmla="val 146771"/>
            </a:avLst>
          </a:prstGeom>
          <a:solidFill>
            <a:srgbClr val="805AD5"/>
          </a:solidFill>
          <a:ln/>
        </p:spPr>
      </p:sp>
      <p:sp>
        <p:nvSpPr>
          <p:cNvPr id="24" name="Shape 16"/>
          <p:cNvSpPr/>
          <p:nvPr/>
        </p:nvSpPr>
        <p:spPr>
          <a:xfrm>
            <a:off x="9472270" y="5578754"/>
            <a:ext cx="133502" cy="142646"/>
          </a:xfrm>
          <a:prstGeom prst="roundRect">
            <a:avLst>
              <a:gd name="adj" fmla="val 146771"/>
            </a:avLst>
          </a:prstGeom>
          <a:solidFill>
            <a:srgbClr val="D69E2E"/>
          </a:solidFill>
          <a:ln/>
        </p:spPr>
      </p:sp>
      <p:sp>
        <p:nvSpPr>
          <p:cNvPr id="25" name="Shape 17"/>
          <p:cNvSpPr/>
          <p:nvPr/>
        </p:nvSpPr>
        <p:spPr>
          <a:xfrm>
            <a:off x="10641787" y="5578754"/>
            <a:ext cx="133502" cy="142646"/>
          </a:xfrm>
          <a:prstGeom prst="roundRect">
            <a:avLst>
              <a:gd name="adj" fmla="val 146771"/>
            </a:avLst>
          </a:prstGeom>
          <a:solidFill>
            <a:srgbClr val="E53E3E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6110021" y="5421478"/>
            <a:ext cx="1019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요구정의/데이터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7526426" y="5421478"/>
            <a:ext cx="676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8642909" y="5421478"/>
            <a:ext cx="581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기능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673438" y="5421478"/>
            <a:ext cx="743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통합/최적화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0842955" y="5421478"/>
            <a:ext cx="743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테스트/런칭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2390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33095" y="951890"/>
            <a:ext cx="1971446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22576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역할 분담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403" r="-1403"/>
          <a:stretch/>
        </p:blipFill>
        <p:spPr>
          <a:xfrm>
            <a:off x="609905" y="1270102"/>
            <a:ext cx="209398" cy="1810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601" y="1288506"/>
            <a:ext cx="18571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기획/PM -- </a:t>
            </a:r>
            <a:r>
              <a:rPr lang="ko-KR" alt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공수민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5995" y="1531620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프로젝트 범위 정의 및 로드맵 수립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75995" y="1760220"/>
            <a:ext cx="1610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KPI 설정 및 측정 계획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75995" y="1988820"/>
            <a:ext cx="1420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외부 파트너십 관리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5995" y="2217420"/>
            <a:ext cx="2210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리스크 및 데이터 거버넌스 관리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609905" y="2978865"/>
            <a:ext cx="161849" cy="1810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6054" y="2897485"/>
            <a:ext cx="221010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--  </a:t>
            </a:r>
            <a:r>
              <a:rPr lang="ko-KR" alt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김정현</a:t>
            </a:r>
            <a:r>
              <a:rPr lang="en-US" altLang="ko-KR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공수민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75995" y="3240384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여행 데이터 수집 및 정제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75995" y="3468984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피처 스토어 구축 및 품질 관리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75995" y="3697584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카탈로그 및 메타데이터 관리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75995" y="3926184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파이프라인 구축 및 모니터링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4669841"/>
            <a:ext cx="181051" cy="1810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5256" y="4618635"/>
            <a:ext cx="1867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모델링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--  </a:t>
            </a:r>
            <a:r>
              <a:rPr lang="ko-KR" alt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김정민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75995" y="4930445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추천 알고리즘 선택 및 학습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75995" y="515904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모델 평가 및 재현성 확보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5995" y="5387645"/>
            <a:ext cx="1743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온라인 서빙 시스템 구축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75995" y="5616245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모델 성능 모니터링 및 개선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856" b="-856"/>
          <a:stretch/>
        </p:blipFill>
        <p:spPr>
          <a:xfrm>
            <a:off x="5086197" y="2924801"/>
            <a:ext cx="133502" cy="1810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33999" y="2897485"/>
            <a:ext cx="1896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 -- </a:t>
            </a:r>
            <a:r>
              <a:rPr lang="ko-KR" alt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김정현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352287" y="3186319"/>
            <a:ext cx="2486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대화형 여행 플래너 인터페이스 설계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352287" y="3390480"/>
            <a:ext cx="1858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지도/동선 시각화 UX 개발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352287" y="3619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접근성 및 다국어 지원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352287" y="3847680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테스트 및 피드백 반영</a:t>
            </a:r>
            <a:endParaRPr lang="en-US" sz="12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52694" y="1246820"/>
            <a:ext cx="181051" cy="18105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248045" y="1195614"/>
            <a:ext cx="1895551" cy="228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발표/</a:t>
            </a:r>
            <a:r>
              <a:rPr 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-- </a:t>
            </a:r>
            <a:r>
              <a:rPr lang="ko-KR" altLang="en-US" sz="1400" b="1" dirty="0" err="1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박상아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5218784" y="1508339"/>
            <a:ext cx="2248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프로젝트 데모 및 발표 자료 작성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218784" y="1736939"/>
            <a:ext cx="2200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기술 문서화 및 API 가이드 작성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218784" y="1965539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CS 대응 및 분석 대시보드 구축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5218784" y="2194139"/>
            <a:ext cx="1924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교육 및 온보딩 지원</a:t>
            </a:r>
            <a:endParaRPr lang="en-US" sz="12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3" r="3"/>
          <a:stretch/>
        </p:blipFill>
        <p:spPr>
          <a:xfrm>
            <a:off x="7838541" y="2342455"/>
            <a:ext cx="3467405" cy="2467346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40596" y="872520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4038905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43251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및 검증 — 성능 지표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74674"/>
            <a:ext cx="209398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7707" y="1218895"/>
            <a:ext cx="185623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평가 지표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15745"/>
            <a:ext cx="4905756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Accuracy: 전체 예측 중 정확한 예측의 비율로, 여행지 추천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적합성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Precision: 추천한 항목 중 실제 관련 있는 항목의 비율(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)</a:t>
            </a:r>
            <a:r>
              <a:rPr lang="en-US" altLang="ko-KR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Recall: 실제 관련 있는 전체 항목 중 추천된 항목의 비율(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,  F1-score: Precision과 Recall의 조화평균으로 균형 있는 성능 측정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461" r="-461"/>
          <a:stretch/>
        </p:blipFill>
        <p:spPr>
          <a:xfrm>
            <a:off x="533095" y="2873959"/>
            <a:ext cx="237744" cy="20939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6054" y="2819095"/>
            <a:ext cx="211317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시스템 전용 지표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33095" y="3215030"/>
            <a:ext cx="496336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Precision@K, Recall@K: 상위 K개 추천 항목에 대한 정밀도/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재현율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 nDCG: 순위를 고려한 추천 품질 평가(상위 추천 정확도에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,  MAP: 평균 정밀도로 추천 순서의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,  CTR, CVR: 클릭률, 전환율로 실제 사용자 참여도 측정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474159"/>
            <a:ext cx="209398" cy="2093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57707" y="4419295"/>
            <a:ext cx="23225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품질 &amp; 온라인 지표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33095" y="4815230"/>
            <a:ext cx="501091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BLEU/ROUGE: 일정 요약 및 추천문 생성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 다양성/신규성: 추천 결과의 다양성과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새로움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,  A/B 테스트: 탐색시간 단축, 예약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전환율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, 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설문: CSAT(고객만족도), NPS(순추천지수) 측정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7" b="-7"/>
          <a:stretch/>
        </p:blipFill>
        <p:spPr>
          <a:xfrm>
            <a:off x="6325819" y="1573682"/>
            <a:ext cx="4762195" cy="38103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958584" y="5578754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4299E1"/>
          </a:solidFill>
          <a:ln/>
        </p:spPr>
      </p:sp>
      <p:sp>
        <p:nvSpPr>
          <p:cNvPr id="16" name="Shape 10"/>
          <p:cNvSpPr/>
          <p:nvPr/>
        </p:nvSpPr>
        <p:spPr>
          <a:xfrm>
            <a:off x="8225942" y="5578754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48BB78"/>
          </a:solidFill>
          <a:ln/>
        </p:spPr>
      </p:sp>
      <p:sp>
        <p:nvSpPr>
          <p:cNvPr id="17" name="Shape 11"/>
          <p:cNvSpPr/>
          <p:nvPr/>
        </p:nvSpPr>
        <p:spPr>
          <a:xfrm>
            <a:off x="9353398" y="5578754"/>
            <a:ext cx="142646" cy="142646"/>
          </a:xfrm>
          <a:prstGeom prst="roundRect">
            <a:avLst>
              <a:gd name="adj" fmla="val 128205"/>
            </a:avLst>
          </a:prstGeom>
          <a:solidFill>
            <a:srgbClr val="ED8936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7177126" y="5535778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지표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445398" y="5535778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품질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9572854" y="5535778"/>
            <a:ext cx="1000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만족도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9340596" y="634776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054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3476549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37627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 및 향후 발전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3095" y="127650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75995" y="1218895"/>
            <a:ext cx="1019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1647749"/>
            <a:ext cx="31839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여행 탐색 피로도 감소 (평균 -50%)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33095" y="1915668"/>
            <a:ext cx="29836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지역 관광 분산 효과로 숨은 명소 활성화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33095" y="2184502"/>
            <a:ext cx="34975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 효율성 향상 및 고객 서비스(CS) 비용 절감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33095" y="2452421"/>
            <a:ext cx="29361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만족도 증가와 반복 사용률 향상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533095" y="2996489"/>
            <a:ext cx="142646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90956" y="2939796"/>
            <a:ext cx="15051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가치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33095" y="3368650"/>
            <a:ext cx="547908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개인화 기반 새로운 수익 모델 (프리미엄 추천, 맞춤형 패키지) • 파트너 제휴 및 광고 효과 최적화 (CTR +25% 예상) • 추가 상품 판매(upsell) 및 교차 판매(cross-sell) 기회 증대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444947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75995" y="4391863"/>
            <a:ext cx="15627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 및 리스크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533095" y="4820717"/>
            <a:ext cx="539313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데이터 편향 → 다양한 지역/성별/연령 데이터 확보 • 할루시네이션 위험 → RAG 적용 및 휴먼인더루프 시스템 • 개인정보 보호 이슈 → 프라이버시 강화 및 데이터 익명화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533095" y="5901538"/>
            <a:ext cx="256946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5256" y="5843930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로드맵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533095" y="6272784"/>
            <a:ext cx="2916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멀티모달 확장 (이미지/음성 입력 지원)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33095" y="6540703"/>
            <a:ext cx="3002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온디바이스 개인화 (오프라인 환경 지원)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33095" y="6809537"/>
            <a:ext cx="31546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에이전트 기반 실시간 예약/변경 도구 제공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33095" y="7077456"/>
            <a:ext cx="3193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슈퍼앱 연계 (숙박, 교통, 현지 체험 원스톱)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 l="70" r="70"/>
          <a:stretch/>
        </p:blipFill>
        <p:spPr>
          <a:xfrm>
            <a:off x="6248095" y="2870302"/>
            <a:ext cx="5410505" cy="304769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340596" y="7793431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401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533095" y="951890"/>
            <a:ext cx="2781605" cy="3840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3095" y="314554"/>
            <a:ext cx="30678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문헌 및 자료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533095" y="1276502"/>
            <a:ext cx="200254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7649" y="1218895"/>
            <a:ext cx="24670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보고서 및 연구자료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1638605"/>
            <a:ext cx="5248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Accenture (2025) "생성형 AI와 여행산업의 미래 보고서" - AI Matters 인용 기사: 여행자 97%가 원하는 여행 '슈퍼앱', 280억 달러 여행시장의 미래는 생성형 AI로 실현된다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100" b="-100"/>
          <a:stretch/>
        </p:blipFill>
        <p:spPr>
          <a:xfrm>
            <a:off x="761695" y="2523744"/>
            <a:ext cx="114300" cy="152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2714854"/>
            <a:ext cx="502188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Publicis Sapient (2025) "Generative AI Use Cases for the Travel and Hospitality Industry"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33095" y="3526841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5995" y="3470148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공식 자료</a:t>
            </a:r>
            <a:endParaRPr lang="en-US" sz="1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3936492"/>
            <a:ext cx="19019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1695" y="4127602"/>
            <a:ext cx="49459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MYRO (2023) "AI 여행 플래너 서비스" - https://www.myro.co.kr/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4662526"/>
            <a:ext cx="19019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61695" y="4852721"/>
            <a:ext cx="368869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한국관광공사 (2022) "대한민국 구석구석 AI콕콕" - https://korean.visitkorea.or.kr/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5655564"/>
            <a:ext cx="190195" cy="152705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761695" y="5846674"/>
            <a:ext cx="42885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놀유니버스 (2025) "트리플 AI 여행 플래너" - 공식 보도자료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6381598"/>
            <a:ext cx="190195" cy="15270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61695" y="6571793"/>
            <a:ext cx="44412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서울관광재단 (2025) "비짓서울 AI 여행 플래너" - 공식 페이지</a:t>
            </a:r>
            <a:endParaRPr lang="en-US" sz="13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533095" y="7115861"/>
            <a:ext cx="200254" cy="2286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47649" y="7059168"/>
            <a:ext cx="2048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5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및 기술 자료</a:t>
            </a:r>
            <a:endParaRPr lang="en-US" sz="18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7525512"/>
            <a:ext cx="152705" cy="152705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761695" y="7715707"/>
            <a:ext cx="42409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AI-Hub "여행 정보 데이터셋" - 24,557개 이벤트 정보 태깅</a:t>
            </a:r>
            <a:endParaRPr lang="en-US" sz="13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61695" y="8250631"/>
            <a:ext cx="152705" cy="152705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61695" y="8441741"/>
            <a:ext cx="43644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AI-Hub "국내 여행로그 데이터셋" - 수도권/제주 지역 데이터</a:t>
            </a:r>
            <a:endParaRPr lang="en-US" sz="13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61695" y="8976665"/>
            <a:ext cx="190195" cy="152705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761695" y="9166860"/>
            <a:ext cx="45079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시스템 기술 자료 - 협업/콘텐츠 기반/하이브리드 알고리즘</a:t>
            </a:r>
            <a:endParaRPr lang="en-US" sz="1300" dirty="0"/>
          </a:p>
        </p:txBody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0"/>
          <a:srcRect l="149" r="149"/>
          <a:stretch/>
        </p:blipFill>
        <p:spPr>
          <a:xfrm>
            <a:off x="6257695" y="2338121"/>
            <a:ext cx="5410505" cy="2324405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1469624" y="2650846"/>
            <a:ext cx="722376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출처: Master of Code - Travel Chatbot Examples</a:t>
            </a:r>
            <a:endParaRPr lang="en-US" sz="1000" dirty="0"/>
          </a:p>
        </p:txBody>
      </p:sp>
      <p:sp>
        <p:nvSpPr>
          <p:cNvPr id="30" name="Text 16"/>
          <p:cNvSpPr txBox="1"/>
          <p:nvPr/>
        </p:nvSpPr>
        <p:spPr>
          <a:xfrm>
            <a:off x="9340596" y="9882835"/>
            <a:ext cx="24277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여행 혁신팀 | 여행지 추천 AI 프로젝트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1849</Words>
  <Application>Microsoft Office PowerPoint</Application>
  <PresentationFormat>와이드스크린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102</cp:lastModifiedBy>
  <cp:revision>11</cp:revision>
  <dcterms:created xsi:type="dcterms:W3CDTF">2025-11-10T22:43:41Z</dcterms:created>
  <dcterms:modified xsi:type="dcterms:W3CDTF">2025-11-11T06:38:02Z</dcterms:modified>
</cp:coreProperties>
</file>